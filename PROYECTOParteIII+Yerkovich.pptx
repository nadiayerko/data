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63" r:id="rId3"/>
    <p:sldId id="258" r:id="rId4"/>
    <p:sldId id="257" r:id="rId5"/>
    <p:sldId id="260" r:id="rId6"/>
    <p:sldId id="259" r:id="rId7"/>
    <p:sldId id="261"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75DCB02-9BB8-47FD-8907-85C794F793BA}" styleName="Estilo temático 1 - Énfasis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E9639D4-E3E2-4D34-9284-5A2195B3D0D7}" styleName="Estilo cl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D7AC3CCA-C797-4891-BE02-D94E43425B78}" styleName="Estilo medio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67" autoAdjust="0"/>
    <p:restoredTop sz="94660"/>
  </p:normalViewPr>
  <p:slideViewPr>
    <p:cSldViewPr snapToGrid="0">
      <p:cViewPr varScale="1">
        <p:scale>
          <a:sx n="59" d="100"/>
          <a:sy n="59" d="100"/>
        </p:scale>
        <p:origin x="848"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48A87A34-81AB-432B-8DAE-1953F412C126}" type="datetimeFigureOut">
              <a:rPr lang="en-US" dirty="0"/>
              <a:t>5/28/2025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5/28/2025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Content Placeholder 3"/>
          <p:cNvSpPr>
            <a:spLocks noGrp="1"/>
          </p:cNvSpPr>
          <p:nvPr>
            <p:ph sz="quarter" idx="13"/>
          </p:nvPr>
        </p:nvSpPr>
        <p:spPr>
          <a:xfrm>
            <a:off x="913774" y="3051012"/>
            <a:ext cx="5106027" cy="274018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3" name="Content Placeholder 5"/>
          <p:cNvSpPr>
            <a:spLocks noGrp="1"/>
          </p:cNvSpPr>
          <p:nvPr>
            <p:ph sz="quarter" idx="14"/>
          </p:nvPr>
        </p:nvSpPr>
        <p:spPr>
          <a:xfrm>
            <a:off x="6172200" y="3051012"/>
            <a:ext cx="5105401" cy="274018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5/28/2025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5/28/2025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dirty="0"/>
              <a:t>5/28/2025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s-ES"/>
              <a:t>Haga clic para modificar el estilo de título del patrón</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5/28/2025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5/28/2025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5/28/2025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5/28/2025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5/28/2025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5/28/2025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48A87A34-81AB-432B-8DAE-1953F412C126}" type="datetimeFigureOut">
              <a:rPr lang="en-US" dirty="0"/>
              <a:t>5/28/2025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48A87A34-81AB-432B-8DAE-1953F412C126}" type="datetimeFigureOut">
              <a:rPr lang="en-US" dirty="0"/>
              <a:t>5/28/2025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s-ES"/>
              <a:t>Haga clic para modificar el estilo de título del patrón</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dirty="0"/>
              <a:pPr/>
              <a:t>5/28/2025</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B40FCD49-2060-48B9-8212-8A5F1DF472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descr="Un grupo de personas de pie sobre pasto&#10;&#10;El contenido generado por IA puede ser incorrecto.">
            <a:extLst>
              <a:ext uri="{FF2B5EF4-FFF2-40B4-BE49-F238E27FC236}">
                <a16:creationId xmlns:a16="http://schemas.microsoft.com/office/drawing/2014/main" id="{8555C9DE-B521-3CE5-389B-BF059C6A6172}"/>
              </a:ext>
            </a:extLst>
          </p:cNvPr>
          <p:cNvPicPr>
            <a:picLocks noChangeAspect="1"/>
          </p:cNvPicPr>
          <p:nvPr/>
        </p:nvPicPr>
        <p:blipFill>
          <a:blip r:embed="rId2">
            <a:alphaModFix amt="35000"/>
          </a:blip>
          <a:srcRect t="46018" b="11794"/>
          <a:stretch>
            <a:fillRect/>
          </a:stretch>
        </p:blipFill>
        <p:spPr>
          <a:xfrm>
            <a:off x="20" y="10"/>
            <a:ext cx="12191980" cy="6857990"/>
          </a:xfrm>
          <a:prstGeom prst="rect">
            <a:avLst/>
          </a:prstGeom>
        </p:spPr>
      </p:pic>
      <p:pic>
        <p:nvPicPr>
          <p:cNvPr id="22" name="Picture 21">
            <a:extLst>
              <a:ext uri="{FF2B5EF4-FFF2-40B4-BE49-F238E27FC236}">
                <a16:creationId xmlns:a16="http://schemas.microsoft.com/office/drawing/2014/main" id="{83A45DCD-B5FB-4A86-88D2-91088C7FFC5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ítulo 1">
            <a:extLst>
              <a:ext uri="{FF2B5EF4-FFF2-40B4-BE49-F238E27FC236}">
                <a16:creationId xmlns:a16="http://schemas.microsoft.com/office/drawing/2014/main" id="{C5FB6F1B-0536-5393-B803-62731CD184D1}"/>
              </a:ext>
            </a:extLst>
          </p:cNvPr>
          <p:cNvSpPr>
            <a:spLocks noGrp="1"/>
          </p:cNvSpPr>
          <p:nvPr>
            <p:ph type="ctrTitle"/>
          </p:nvPr>
        </p:nvSpPr>
        <p:spPr>
          <a:xfrm>
            <a:off x="3969308" y="1288020"/>
            <a:ext cx="8689976" cy="1491345"/>
          </a:xfrm>
        </p:spPr>
        <p:txBody>
          <a:bodyPr>
            <a:normAutofit/>
          </a:bodyPr>
          <a:lstStyle/>
          <a:p>
            <a:r>
              <a:rPr lang="es-MX" b="1" i="0" dirty="0">
                <a:effectLst/>
                <a:latin typeface="Roboto" panose="02000000000000000000" pitchFamily="2" charset="0"/>
              </a:rPr>
              <a:t>Producción de soja en Argentina</a:t>
            </a:r>
            <a:endParaRPr lang="es-AR" dirty="0"/>
          </a:p>
        </p:txBody>
      </p:sp>
      <p:sp>
        <p:nvSpPr>
          <p:cNvPr id="7" name="CuadroTexto 6">
            <a:extLst>
              <a:ext uri="{FF2B5EF4-FFF2-40B4-BE49-F238E27FC236}">
                <a16:creationId xmlns:a16="http://schemas.microsoft.com/office/drawing/2014/main" id="{775B212D-8A6D-C4D5-7E84-1AE7BEDDDB6F}"/>
              </a:ext>
            </a:extLst>
          </p:cNvPr>
          <p:cNvSpPr txBox="1"/>
          <p:nvPr/>
        </p:nvSpPr>
        <p:spPr>
          <a:xfrm>
            <a:off x="234042" y="3187466"/>
            <a:ext cx="10678886" cy="1631216"/>
          </a:xfrm>
          <a:prstGeom prst="rect">
            <a:avLst/>
          </a:prstGeom>
          <a:noFill/>
        </p:spPr>
        <p:txBody>
          <a:bodyPr wrap="square" rtlCol="0">
            <a:spAutoFit/>
          </a:bodyPr>
          <a:lstStyle/>
          <a:p>
            <a:pPr algn="just"/>
            <a:r>
              <a:rPr lang="es-AR" sz="2000" dirty="0">
                <a:latin typeface="Arial" panose="020B0604020202020204" pitchFamily="34" charset="0"/>
                <a:cs typeface="Arial" panose="020B0604020202020204" pitchFamily="34" charset="0"/>
              </a:rPr>
              <a:t>La problemática agronómica en argentina sobre la producción de soja es que el porcentaje de proteínas esta en descenso en las últimas campañas desde el 2020 a la actualidad se ha observado una disminución del 5%. Actualmente se quiere considerar si la producción de soja se verá afectada en Argentina no solo por la composición de su grano sino por características de las hectáreas sembradas, temperaturas y calidad de grano</a:t>
            </a:r>
          </a:p>
        </p:txBody>
      </p:sp>
    </p:spTree>
    <p:extLst>
      <p:ext uri="{BB962C8B-B14F-4D97-AF65-F5344CB8AC3E}">
        <p14:creationId xmlns:p14="http://schemas.microsoft.com/office/powerpoint/2010/main" val="2741221306"/>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ítulo 2">
            <a:extLst>
              <a:ext uri="{FF2B5EF4-FFF2-40B4-BE49-F238E27FC236}">
                <a16:creationId xmlns:a16="http://schemas.microsoft.com/office/drawing/2014/main" id="{6BFC66BC-67C7-4F16-B050-6548C9645D88}"/>
              </a:ext>
            </a:extLst>
          </p:cNvPr>
          <p:cNvSpPr txBox="1">
            <a:spLocks/>
          </p:cNvSpPr>
          <p:nvPr/>
        </p:nvSpPr>
        <p:spPr>
          <a:xfrm>
            <a:off x="279051" y="1939137"/>
            <a:ext cx="11749663" cy="2373359"/>
          </a:xfrm>
          <a:prstGeom prst="rect">
            <a:avLst/>
          </a:prstGeom>
        </p:spPr>
        <p:txBody>
          <a:bodyPr>
            <a:noAutofit/>
          </a:bodyPr>
          <a:lst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a:lstStyle>
          <a:p>
            <a:pPr indent="0" algn="just">
              <a:lnSpc>
                <a:spcPct val="110000"/>
              </a:lnSpc>
              <a:buFont typeface="Arial" panose="020B0604020202020204" pitchFamily="34" charset="0"/>
              <a:buNone/>
            </a:pPr>
            <a:endParaRPr lang="es-MX" sz="1400" dirty="0">
              <a:solidFill>
                <a:schemeClr val="tx1">
                  <a:lumMod val="65000"/>
                  <a:lumOff val="35000"/>
                </a:schemeClr>
              </a:solidFill>
              <a:latin typeface="Arial" panose="020B0604020202020204" pitchFamily="34" charset="0"/>
              <a:cs typeface="Arial" panose="020B0604020202020204" pitchFamily="34" charset="0"/>
            </a:endParaRPr>
          </a:p>
          <a:p>
            <a:pPr indent="0" algn="just">
              <a:lnSpc>
                <a:spcPct val="110000"/>
              </a:lnSpc>
              <a:buFont typeface="Arial" panose="020B0604020202020204" pitchFamily="34" charset="0"/>
              <a:buNone/>
            </a:pPr>
            <a:r>
              <a:rPr lang="es-MX" sz="1400" dirty="0">
                <a:solidFill>
                  <a:schemeClr val="tx1">
                    <a:lumMod val="65000"/>
                    <a:lumOff val="35000"/>
                  </a:schemeClr>
                </a:solidFill>
                <a:latin typeface="Arial" panose="020B0604020202020204" pitchFamily="34" charset="0"/>
                <a:cs typeface="Arial" panose="020B0604020202020204" pitchFamily="34" charset="0"/>
              </a:rPr>
              <a:t>En este proyecto se busca aplicar técnicas de selección de variables, entrenamiento de un modelo de regresión y validación del mismo utilizando un conjunto de datos agronómicos relacionados con la producción de soja en distintas provincias de Argentina. El objetivo es construir un modelo que permita predecir la producción de soja en toneladas a partir de variables climáticas, provincias argentinas, superficie de siembra y cosecha además de los componentes de calidad del cultivo como la cantidad de proteínas y aceites en la soja.</a:t>
            </a:r>
          </a:p>
          <a:p>
            <a:pPr indent="0" algn="just">
              <a:lnSpc>
                <a:spcPct val="110000"/>
              </a:lnSpc>
            </a:pPr>
            <a:endParaRPr lang="es-AR" sz="1400"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7" name="Título 1">
            <a:extLst>
              <a:ext uri="{FF2B5EF4-FFF2-40B4-BE49-F238E27FC236}">
                <a16:creationId xmlns:a16="http://schemas.microsoft.com/office/drawing/2014/main" id="{025531AE-C2F1-54CB-17E3-B5794990883F}"/>
              </a:ext>
            </a:extLst>
          </p:cNvPr>
          <p:cNvSpPr txBox="1">
            <a:spLocks/>
          </p:cNvSpPr>
          <p:nvPr/>
        </p:nvSpPr>
        <p:spPr>
          <a:xfrm>
            <a:off x="1846594" y="709049"/>
            <a:ext cx="8689976" cy="1491345"/>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a:lstStyle>
          <a:p>
            <a:r>
              <a:rPr lang="es-AR" dirty="0"/>
              <a:t>Evaluación de datos de producción de soja</a:t>
            </a:r>
          </a:p>
        </p:txBody>
      </p:sp>
      <p:graphicFrame>
        <p:nvGraphicFramePr>
          <p:cNvPr id="8" name="Tabla 7">
            <a:extLst>
              <a:ext uri="{FF2B5EF4-FFF2-40B4-BE49-F238E27FC236}">
                <a16:creationId xmlns:a16="http://schemas.microsoft.com/office/drawing/2014/main" id="{DF3206D3-6E4F-E366-E3AF-EAB4B7B414B2}"/>
              </a:ext>
            </a:extLst>
          </p:cNvPr>
          <p:cNvGraphicFramePr>
            <a:graphicFrameLocks noGrp="1"/>
          </p:cNvGraphicFramePr>
          <p:nvPr>
            <p:extLst>
              <p:ext uri="{D42A27DB-BD31-4B8C-83A1-F6EECF244321}">
                <p14:modId xmlns:p14="http://schemas.microsoft.com/office/powerpoint/2010/main" val="3955563142"/>
              </p:ext>
            </p:extLst>
          </p:nvPr>
        </p:nvGraphicFramePr>
        <p:xfrm>
          <a:off x="1044365" y="3904497"/>
          <a:ext cx="10294433" cy="1506220"/>
        </p:xfrm>
        <a:graphic>
          <a:graphicData uri="http://schemas.openxmlformats.org/drawingml/2006/table">
            <a:tbl>
              <a:tblPr>
                <a:tableStyleId>{D7AC3CCA-C797-4891-BE02-D94E43425B78}</a:tableStyleId>
              </a:tblPr>
              <a:tblGrid>
                <a:gridCol w="969684">
                  <a:extLst>
                    <a:ext uri="{9D8B030D-6E8A-4147-A177-3AD203B41FA5}">
                      <a16:colId xmlns:a16="http://schemas.microsoft.com/office/drawing/2014/main" val="1725053641"/>
                    </a:ext>
                  </a:extLst>
                </a:gridCol>
                <a:gridCol w="446632">
                  <a:extLst>
                    <a:ext uri="{9D8B030D-6E8A-4147-A177-3AD203B41FA5}">
                      <a16:colId xmlns:a16="http://schemas.microsoft.com/office/drawing/2014/main" val="135449268"/>
                    </a:ext>
                  </a:extLst>
                </a:gridCol>
                <a:gridCol w="830620">
                  <a:extLst>
                    <a:ext uri="{9D8B030D-6E8A-4147-A177-3AD203B41FA5}">
                      <a16:colId xmlns:a16="http://schemas.microsoft.com/office/drawing/2014/main" val="1795042431"/>
                    </a:ext>
                  </a:extLst>
                </a:gridCol>
                <a:gridCol w="862568">
                  <a:extLst>
                    <a:ext uri="{9D8B030D-6E8A-4147-A177-3AD203B41FA5}">
                      <a16:colId xmlns:a16="http://schemas.microsoft.com/office/drawing/2014/main" val="3386045447"/>
                    </a:ext>
                  </a:extLst>
                </a:gridCol>
                <a:gridCol w="788025">
                  <a:extLst>
                    <a:ext uri="{9D8B030D-6E8A-4147-A177-3AD203B41FA5}">
                      <a16:colId xmlns:a16="http://schemas.microsoft.com/office/drawing/2014/main" val="3635340845"/>
                    </a:ext>
                  </a:extLst>
                </a:gridCol>
                <a:gridCol w="1086196">
                  <a:extLst>
                    <a:ext uri="{9D8B030D-6E8A-4147-A177-3AD203B41FA5}">
                      <a16:colId xmlns:a16="http://schemas.microsoft.com/office/drawing/2014/main" val="3965348059"/>
                    </a:ext>
                  </a:extLst>
                </a:gridCol>
                <a:gridCol w="1128792">
                  <a:extLst>
                    <a:ext uri="{9D8B030D-6E8A-4147-A177-3AD203B41FA5}">
                      <a16:colId xmlns:a16="http://schemas.microsoft.com/office/drawing/2014/main" val="3698476438"/>
                    </a:ext>
                  </a:extLst>
                </a:gridCol>
                <a:gridCol w="905163">
                  <a:extLst>
                    <a:ext uri="{9D8B030D-6E8A-4147-A177-3AD203B41FA5}">
                      <a16:colId xmlns:a16="http://schemas.microsoft.com/office/drawing/2014/main" val="1200169032"/>
                    </a:ext>
                  </a:extLst>
                </a:gridCol>
                <a:gridCol w="851919">
                  <a:extLst>
                    <a:ext uri="{9D8B030D-6E8A-4147-A177-3AD203B41FA5}">
                      <a16:colId xmlns:a16="http://schemas.microsoft.com/office/drawing/2014/main" val="3249469441"/>
                    </a:ext>
                  </a:extLst>
                </a:gridCol>
                <a:gridCol w="937111">
                  <a:extLst>
                    <a:ext uri="{9D8B030D-6E8A-4147-A177-3AD203B41FA5}">
                      <a16:colId xmlns:a16="http://schemas.microsoft.com/office/drawing/2014/main" val="195619471"/>
                    </a:ext>
                  </a:extLst>
                </a:gridCol>
                <a:gridCol w="1487723">
                  <a:extLst>
                    <a:ext uri="{9D8B030D-6E8A-4147-A177-3AD203B41FA5}">
                      <a16:colId xmlns:a16="http://schemas.microsoft.com/office/drawing/2014/main" val="810069920"/>
                    </a:ext>
                  </a:extLst>
                </a:gridCol>
              </a:tblGrid>
              <a:tr h="190500">
                <a:tc>
                  <a:txBody>
                    <a:bodyPr/>
                    <a:lstStyle/>
                    <a:p>
                      <a:pPr algn="l" fontAlgn="b"/>
                      <a:r>
                        <a:rPr lang="es-AR" sz="1200" b="0" u="none" strike="noStrike" dirty="0">
                          <a:solidFill>
                            <a:srgbClr val="000000"/>
                          </a:solidFill>
                          <a:effectLst/>
                          <a:latin typeface="Arial" panose="020B0604020202020204" pitchFamily="34" charset="0"/>
                          <a:cs typeface="Arial" panose="020B0604020202020204" pitchFamily="34" charset="0"/>
                        </a:rPr>
                        <a:t>cultivo_</a:t>
                      </a:r>
                    </a:p>
                    <a:p>
                      <a:pPr algn="l" fontAlgn="b"/>
                      <a:r>
                        <a:rPr lang="es-AR" sz="1200" b="0" u="none" strike="noStrike" dirty="0">
                          <a:solidFill>
                            <a:srgbClr val="000000"/>
                          </a:solidFill>
                          <a:effectLst/>
                          <a:latin typeface="Arial" panose="020B0604020202020204" pitchFamily="34" charset="0"/>
                          <a:cs typeface="Arial" panose="020B0604020202020204" pitchFamily="34" charset="0"/>
                        </a:rPr>
                        <a:t>nombre</a:t>
                      </a:r>
                      <a:endParaRPr lang="es-AR" sz="1200" b="0" i="0" u="none" strike="noStrike" dirty="0">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s-AR" sz="1200" b="0" u="none" strike="noStrike" dirty="0" err="1">
                          <a:solidFill>
                            <a:srgbClr val="000000"/>
                          </a:solidFill>
                          <a:effectLst/>
                          <a:latin typeface="Arial" panose="020B0604020202020204" pitchFamily="34" charset="0"/>
                          <a:cs typeface="Arial" panose="020B0604020202020204" pitchFamily="34" charset="0"/>
                        </a:rPr>
                        <a:t>anio</a:t>
                      </a:r>
                      <a:endParaRPr lang="es-AR" sz="1200" b="0" i="0" u="none" strike="noStrike" dirty="0">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s-AR" sz="1200" b="0" u="none" strike="noStrike" dirty="0" err="1">
                          <a:solidFill>
                            <a:srgbClr val="000000"/>
                          </a:solidFill>
                          <a:effectLst/>
                          <a:latin typeface="Arial" panose="020B0604020202020204" pitchFamily="34" charset="0"/>
                          <a:cs typeface="Arial" panose="020B0604020202020204" pitchFamily="34" charset="0"/>
                        </a:rPr>
                        <a:t>campania</a:t>
                      </a:r>
                      <a:endParaRPr lang="es-AR" sz="1200" b="0" i="0" u="none" strike="noStrike" dirty="0">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s-AR" sz="1200" b="0" u="none" strike="noStrike" dirty="0">
                          <a:solidFill>
                            <a:srgbClr val="000000"/>
                          </a:solidFill>
                          <a:effectLst/>
                          <a:latin typeface="Arial" panose="020B0604020202020204" pitchFamily="34" charset="0"/>
                          <a:cs typeface="Arial" panose="020B0604020202020204" pitchFamily="34" charset="0"/>
                        </a:rPr>
                        <a:t>provincia_</a:t>
                      </a:r>
                    </a:p>
                    <a:p>
                      <a:pPr algn="l" fontAlgn="b"/>
                      <a:r>
                        <a:rPr lang="es-AR" sz="1200" b="0" u="none" strike="noStrike" dirty="0">
                          <a:solidFill>
                            <a:srgbClr val="000000"/>
                          </a:solidFill>
                          <a:effectLst/>
                          <a:latin typeface="Arial" panose="020B0604020202020204" pitchFamily="34" charset="0"/>
                          <a:cs typeface="Arial" panose="020B0604020202020204" pitchFamily="34" charset="0"/>
                        </a:rPr>
                        <a:t>nombre</a:t>
                      </a:r>
                      <a:endParaRPr lang="es-AR" sz="1200" b="0" i="0" u="none" strike="noStrike" dirty="0">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s-AR" sz="1200" b="0" u="none" strike="noStrike" dirty="0" err="1">
                          <a:solidFill>
                            <a:srgbClr val="000000"/>
                          </a:solidFill>
                          <a:effectLst/>
                          <a:latin typeface="Arial" panose="020B0604020202020204" pitchFamily="34" charset="0"/>
                          <a:cs typeface="Arial" panose="020B0604020202020204" pitchFamily="34" charset="0"/>
                        </a:rPr>
                        <a:t>provincia_id</a:t>
                      </a:r>
                      <a:endParaRPr lang="es-AR" sz="1200" b="0" i="0" u="none" strike="noStrike" dirty="0">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s-AR" sz="1200" b="0" u="none" strike="noStrike" dirty="0" err="1">
                          <a:solidFill>
                            <a:srgbClr val="000000"/>
                          </a:solidFill>
                          <a:effectLst/>
                          <a:latin typeface="Arial" panose="020B0604020202020204" pitchFamily="34" charset="0"/>
                          <a:cs typeface="Arial" panose="020B0604020202020204" pitchFamily="34" charset="0"/>
                        </a:rPr>
                        <a:t>departamento_nombre</a:t>
                      </a:r>
                      <a:endParaRPr lang="es-AR" sz="1200" b="0" i="0" u="none" strike="noStrike" dirty="0">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s-AR" sz="1200" b="0" u="none" strike="noStrike" dirty="0" err="1">
                          <a:solidFill>
                            <a:srgbClr val="000000"/>
                          </a:solidFill>
                          <a:effectLst/>
                          <a:latin typeface="Arial" panose="020B0604020202020204" pitchFamily="34" charset="0"/>
                          <a:cs typeface="Arial" panose="020B0604020202020204" pitchFamily="34" charset="0"/>
                        </a:rPr>
                        <a:t>departamento_id</a:t>
                      </a:r>
                      <a:endParaRPr lang="es-AR" sz="1200" b="0" i="0" u="none" strike="noStrike" dirty="0">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s-AR" sz="1200" b="0" u="none" strike="noStrike" dirty="0" err="1">
                          <a:solidFill>
                            <a:srgbClr val="000000"/>
                          </a:solidFill>
                          <a:effectLst/>
                          <a:latin typeface="Arial" panose="020B0604020202020204" pitchFamily="34" charset="0"/>
                          <a:cs typeface="Arial" panose="020B0604020202020204" pitchFamily="34" charset="0"/>
                        </a:rPr>
                        <a:t>superficie_sembrada_ha</a:t>
                      </a:r>
                      <a:endParaRPr lang="es-AR" sz="1200" b="0" i="0" u="none" strike="noStrike" dirty="0">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s-AR" sz="1200" b="0" u="none" strike="noStrike" dirty="0" err="1">
                          <a:solidFill>
                            <a:srgbClr val="000000"/>
                          </a:solidFill>
                          <a:effectLst/>
                          <a:latin typeface="Arial" panose="020B0604020202020204" pitchFamily="34" charset="0"/>
                          <a:cs typeface="Arial" panose="020B0604020202020204" pitchFamily="34" charset="0"/>
                        </a:rPr>
                        <a:t>superficie_cosechada_ha</a:t>
                      </a:r>
                      <a:endParaRPr lang="es-AR" sz="1200" b="0" i="0" u="none" strike="noStrike" dirty="0">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s-AR" sz="1200" b="0" u="none" strike="noStrike" dirty="0" err="1">
                          <a:solidFill>
                            <a:srgbClr val="000000"/>
                          </a:solidFill>
                          <a:effectLst/>
                          <a:latin typeface="Arial" panose="020B0604020202020204" pitchFamily="34" charset="0"/>
                          <a:cs typeface="Arial" panose="020B0604020202020204" pitchFamily="34" charset="0"/>
                        </a:rPr>
                        <a:t>produccion_tm</a:t>
                      </a:r>
                      <a:endParaRPr lang="es-AR" sz="1200" b="0" i="0" u="none" strike="noStrike" dirty="0">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s-AR" sz="1200" b="0" u="none" strike="noStrike" dirty="0" err="1">
                          <a:solidFill>
                            <a:srgbClr val="000000"/>
                          </a:solidFill>
                          <a:effectLst/>
                          <a:latin typeface="Arial" panose="020B0604020202020204" pitchFamily="34" charset="0"/>
                          <a:cs typeface="Arial" panose="020B0604020202020204" pitchFamily="34" charset="0"/>
                        </a:rPr>
                        <a:t>rendimiento_kgxha</a:t>
                      </a:r>
                      <a:endParaRPr lang="es-AR" sz="1200" b="0" i="0" u="none" strike="noStrike" dirty="0">
                        <a:solidFill>
                          <a:srgbClr val="000000"/>
                        </a:solidFill>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1000378103"/>
                  </a:ext>
                </a:extLst>
              </a:tr>
              <a:tr h="190500">
                <a:tc>
                  <a:txBody>
                    <a:bodyPr/>
                    <a:lstStyle/>
                    <a:p>
                      <a:pPr algn="l" fontAlgn="b"/>
                      <a:r>
                        <a:rPr lang="es-AR" sz="1200" b="0" u="none" strike="noStrike">
                          <a:solidFill>
                            <a:srgbClr val="000000"/>
                          </a:solidFill>
                          <a:effectLst/>
                          <a:latin typeface="Arial" panose="020B0604020202020204" pitchFamily="34" charset="0"/>
                          <a:cs typeface="Arial" panose="020B0604020202020204" pitchFamily="34" charset="0"/>
                        </a:rPr>
                        <a:t>soja</a:t>
                      </a:r>
                      <a:endParaRPr lang="es-AR" sz="1200" b="0"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s-AR" sz="1200" b="0" u="none" strike="noStrike">
                          <a:solidFill>
                            <a:srgbClr val="000000"/>
                          </a:solidFill>
                          <a:effectLst/>
                          <a:latin typeface="Arial" panose="020B0604020202020204" pitchFamily="34" charset="0"/>
                          <a:cs typeface="Arial" panose="020B0604020202020204" pitchFamily="34" charset="0"/>
                        </a:rPr>
                        <a:t>1941</a:t>
                      </a:r>
                      <a:endParaRPr lang="es-AR" sz="1200" b="0"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s-AR" sz="1200" b="0" u="none" strike="noStrike">
                          <a:solidFill>
                            <a:srgbClr val="000000"/>
                          </a:solidFill>
                          <a:effectLst/>
                          <a:latin typeface="Arial" panose="020B0604020202020204" pitchFamily="34" charset="0"/>
                          <a:cs typeface="Arial" panose="020B0604020202020204" pitchFamily="34" charset="0"/>
                        </a:rPr>
                        <a:t>1941/1942</a:t>
                      </a:r>
                      <a:endParaRPr lang="es-AR" sz="1200" b="0"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s-AR" sz="1200" b="0" u="none" strike="noStrike">
                          <a:solidFill>
                            <a:srgbClr val="000000"/>
                          </a:solidFill>
                          <a:effectLst/>
                          <a:latin typeface="Arial" panose="020B0604020202020204" pitchFamily="34" charset="0"/>
                          <a:cs typeface="Arial" panose="020B0604020202020204" pitchFamily="34" charset="0"/>
                        </a:rPr>
                        <a:t>Santa Fe</a:t>
                      </a:r>
                      <a:endParaRPr lang="es-AR" sz="1200" b="0"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s-AR" sz="1200" b="0" u="none" strike="noStrike">
                          <a:solidFill>
                            <a:srgbClr val="000000"/>
                          </a:solidFill>
                          <a:effectLst/>
                          <a:latin typeface="Arial" panose="020B0604020202020204" pitchFamily="34" charset="0"/>
                          <a:cs typeface="Arial" panose="020B0604020202020204" pitchFamily="34" charset="0"/>
                        </a:rPr>
                        <a:t>82</a:t>
                      </a:r>
                      <a:endParaRPr lang="es-AR" sz="1200" b="0"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s-AR" sz="1200" b="0" u="none" strike="noStrike">
                          <a:solidFill>
                            <a:srgbClr val="000000"/>
                          </a:solidFill>
                          <a:effectLst/>
                          <a:latin typeface="Arial" panose="020B0604020202020204" pitchFamily="34" charset="0"/>
                          <a:cs typeface="Arial" panose="020B0604020202020204" pitchFamily="34" charset="0"/>
                        </a:rPr>
                        <a:t>Belgrano</a:t>
                      </a:r>
                      <a:endParaRPr lang="es-AR" sz="1200" b="0"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s-AR" sz="1200" b="0" u="none" strike="noStrike">
                          <a:solidFill>
                            <a:srgbClr val="000000"/>
                          </a:solidFill>
                          <a:effectLst/>
                          <a:latin typeface="Arial" panose="020B0604020202020204" pitchFamily="34" charset="0"/>
                          <a:cs typeface="Arial" panose="020B0604020202020204" pitchFamily="34" charset="0"/>
                        </a:rPr>
                        <a:t>82007.0</a:t>
                      </a:r>
                      <a:endParaRPr lang="es-AR" sz="1200" b="0"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s-AR" sz="1200" b="0" u="none" strike="noStrike">
                          <a:solidFill>
                            <a:srgbClr val="000000"/>
                          </a:solidFill>
                          <a:effectLst/>
                          <a:latin typeface="Arial" panose="020B0604020202020204" pitchFamily="34" charset="0"/>
                          <a:cs typeface="Arial" panose="020B0604020202020204" pitchFamily="34" charset="0"/>
                        </a:rPr>
                        <a:t>90</a:t>
                      </a:r>
                      <a:endParaRPr lang="es-AR" sz="1200" b="0"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s-AR" sz="1200" b="0" u="none" strike="noStrike">
                          <a:solidFill>
                            <a:srgbClr val="000000"/>
                          </a:solidFill>
                          <a:effectLst/>
                          <a:latin typeface="Arial" panose="020B0604020202020204" pitchFamily="34" charset="0"/>
                          <a:cs typeface="Arial" panose="020B0604020202020204" pitchFamily="34" charset="0"/>
                        </a:rPr>
                        <a:t>90</a:t>
                      </a:r>
                      <a:endParaRPr lang="es-AR" sz="1200" b="0"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s-AR" sz="1200" b="0" u="none" strike="noStrike">
                          <a:solidFill>
                            <a:srgbClr val="000000"/>
                          </a:solidFill>
                          <a:effectLst/>
                          <a:latin typeface="Arial" panose="020B0604020202020204" pitchFamily="34" charset="0"/>
                          <a:cs typeface="Arial" panose="020B0604020202020204" pitchFamily="34" charset="0"/>
                        </a:rPr>
                        <a:t>153</a:t>
                      </a:r>
                      <a:endParaRPr lang="es-AR" sz="1200" b="0"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s-AR" sz="1200" b="0" u="none" strike="noStrike">
                          <a:solidFill>
                            <a:srgbClr val="000000"/>
                          </a:solidFill>
                          <a:effectLst/>
                          <a:latin typeface="Arial" panose="020B0604020202020204" pitchFamily="34" charset="0"/>
                          <a:cs typeface="Arial" panose="020B0604020202020204" pitchFamily="34" charset="0"/>
                        </a:rPr>
                        <a:t>1700</a:t>
                      </a:r>
                      <a:endParaRPr lang="es-AR" sz="1200" b="0"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4101732427"/>
                  </a:ext>
                </a:extLst>
              </a:tr>
              <a:tr h="0">
                <a:tc>
                  <a:txBody>
                    <a:bodyPr/>
                    <a:lstStyle/>
                    <a:p>
                      <a:pPr algn="l" fontAlgn="b"/>
                      <a:r>
                        <a:rPr lang="es-AR" sz="1200" b="0" u="none" strike="noStrike">
                          <a:solidFill>
                            <a:srgbClr val="000000"/>
                          </a:solidFill>
                          <a:effectLst/>
                          <a:latin typeface="Arial" panose="020B0604020202020204" pitchFamily="34" charset="0"/>
                          <a:cs typeface="Arial" panose="020B0604020202020204" pitchFamily="34" charset="0"/>
                        </a:rPr>
                        <a:t>soja</a:t>
                      </a:r>
                      <a:endParaRPr lang="es-AR" sz="1200" b="0"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s-AR" sz="1200" b="0" u="none" strike="noStrike">
                          <a:solidFill>
                            <a:srgbClr val="000000"/>
                          </a:solidFill>
                          <a:effectLst/>
                          <a:latin typeface="Arial" panose="020B0604020202020204" pitchFamily="34" charset="0"/>
                          <a:cs typeface="Arial" panose="020B0604020202020204" pitchFamily="34" charset="0"/>
                        </a:rPr>
                        <a:t>1941</a:t>
                      </a:r>
                      <a:endParaRPr lang="es-AR" sz="1200" b="0"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s-AR" sz="1200" b="0" u="none" strike="noStrike">
                          <a:solidFill>
                            <a:srgbClr val="000000"/>
                          </a:solidFill>
                          <a:effectLst/>
                          <a:latin typeface="Arial" panose="020B0604020202020204" pitchFamily="34" charset="0"/>
                          <a:cs typeface="Arial" panose="020B0604020202020204" pitchFamily="34" charset="0"/>
                        </a:rPr>
                        <a:t>1941/1942</a:t>
                      </a:r>
                      <a:endParaRPr lang="es-AR" sz="1200" b="0"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s-AR" sz="1200" b="0" u="none" strike="noStrike">
                          <a:solidFill>
                            <a:srgbClr val="000000"/>
                          </a:solidFill>
                          <a:effectLst/>
                          <a:latin typeface="Arial" panose="020B0604020202020204" pitchFamily="34" charset="0"/>
                          <a:cs typeface="Arial" panose="020B0604020202020204" pitchFamily="34" charset="0"/>
                        </a:rPr>
                        <a:t>Santa Fe</a:t>
                      </a:r>
                      <a:endParaRPr lang="es-AR" sz="1200" b="0"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s-AR" sz="1200" b="0" u="none" strike="noStrike">
                          <a:solidFill>
                            <a:srgbClr val="000000"/>
                          </a:solidFill>
                          <a:effectLst/>
                          <a:latin typeface="Arial" panose="020B0604020202020204" pitchFamily="34" charset="0"/>
                          <a:cs typeface="Arial" panose="020B0604020202020204" pitchFamily="34" charset="0"/>
                        </a:rPr>
                        <a:t>82</a:t>
                      </a:r>
                      <a:endParaRPr lang="es-AR" sz="1200" b="0"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s-AR" sz="1200" b="0" u="none" strike="noStrike">
                          <a:solidFill>
                            <a:srgbClr val="000000"/>
                          </a:solidFill>
                          <a:effectLst/>
                          <a:latin typeface="Arial" panose="020B0604020202020204" pitchFamily="34" charset="0"/>
                          <a:cs typeface="Arial" panose="020B0604020202020204" pitchFamily="34" charset="0"/>
                        </a:rPr>
                        <a:t>Caseros</a:t>
                      </a:r>
                      <a:endParaRPr lang="es-AR" sz="1200" b="0"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s-AR" sz="1200" b="0" u="none" strike="noStrike">
                          <a:solidFill>
                            <a:srgbClr val="000000"/>
                          </a:solidFill>
                          <a:effectLst/>
                          <a:latin typeface="Arial" panose="020B0604020202020204" pitchFamily="34" charset="0"/>
                          <a:cs typeface="Arial" panose="020B0604020202020204" pitchFamily="34" charset="0"/>
                        </a:rPr>
                        <a:t>82014.0</a:t>
                      </a:r>
                      <a:endParaRPr lang="es-AR" sz="1200" b="0"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s-AR" sz="1200" b="0" u="none" strike="noStrike">
                          <a:solidFill>
                            <a:srgbClr val="000000"/>
                          </a:solidFill>
                          <a:effectLst/>
                          <a:latin typeface="Arial" panose="020B0604020202020204" pitchFamily="34" charset="0"/>
                          <a:cs typeface="Arial" panose="020B0604020202020204" pitchFamily="34" charset="0"/>
                        </a:rPr>
                        <a:t>45</a:t>
                      </a:r>
                      <a:endParaRPr lang="es-AR" sz="1200" b="0"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s-AR" sz="1200" b="0" u="none" strike="noStrike">
                          <a:solidFill>
                            <a:srgbClr val="000000"/>
                          </a:solidFill>
                          <a:effectLst/>
                          <a:latin typeface="Arial" panose="020B0604020202020204" pitchFamily="34" charset="0"/>
                          <a:cs typeface="Arial" panose="020B0604020202020204" pitchFamily="34" charset="0"/>
                        </a:rPr>
                        <a:t>35</a:t>
                      </a:r>
                      <a:endParaRPr lang="es-AR" sz="1200" b="0"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s-AR" sz="1200" b="0" u="none" strike="noStrike">
                          <a:solidFill>
                            <a:srgbClr val="000000"/>
                          </a:solidFill>
                          <a:effectLst/>
                          <a:latin typeface="Arial" panose="020B0604020202020204" pitchFamily="34" charset="0"/>
                          <a:cs typeface="Arial" panose="020B0604020202020204" pitchFamily="34" charset="0"/>
                        </a:rPr>
                        <a:t>18</a:t>
                      </a:r>
                      <a:endParaRPr lang="es-AR" sz="1200" b="0"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s-AR" sz="1200" b="0" u="none" strike="noStrike">
                          <a:solidFill>
                            <a:srgbClr val="000000"/>
                          </a:solidFill>
                          <a:effectLst/>
                          <a:latin typeface="Arial" panose="020B0604020202020204" pitchFamily="34" charset="0"/>
                          <a:cs typeface="Arial" panose="020B0604020202020204" pitchFamily="34" charset="0"/>
                        </a:rPr>
                        <a:t>514</a:t>
                      </a:r>
                      <a:endParaRPr lang="es-AR" sz="1200" b="0"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2141166043"/>
                  </a:ext>
                </a:extLst>
              </a:tr>
              <a:tr h="190500">
                <a:tc>
                  <a:txBody>
                    <a:bodyPr/>
                    <a:lstStyle/>
                    <a:p>
                      <a:pPr algn="l" fontAlgn="b"/>
                      <a:r>
                        <a:rPr lang="es-AR" sz="1200" b="0" u="none" strike="noStrike">
                          <a:solidFill>
                            <a:srgbClr val="000000"/>
                          </a:solidFill>
                          <a:effectLst/>
                          <a:latin typeface="Arial" panose="020B0604020202020204" pitchFamily="34" charset="0"/>
                          <a:cs typeface="Arial" panose="020B0604020202020204" pitchFamily="34" charset="0"/>
                        </a:rPr>
                        <a:t>soja</a:t>
                      </a:r>
                      <a:endParaRPr lang="es-AR" sz="1200" b="0"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s-AR" sz="1200" b="0" u="none" strike="noStrike">
                          <a:solidFill>
                            <a:srgbClr val="000000"/>
                          </a:solidFill>
                          <a:effectLst/>
                          <a:latin typeface="Arial" panose="020B0604020202020204" pitchFamily="34" charset="0"/>
                          <a:cs typeface="Arial" panose="020B0604020202020204" pitchFamily="34" charset="0"/>
                        </a:rPr>
                        <a:t>1941</a:t>
                      </a:r>
                      <a:endParaRPr lang="es-AR" sz="1200" b="0"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s-AR" sz="1200" b="0" u="none" strike="noStrike">
                          <a:solidFill>
                            <a:srgbClr val="000000"/>
                          </a:solidFill>
                          <a:effectLst/>
                          <a:latin typeface="Arial" panose="020B0604020202020204" pitchFamily="34" charset="0"/>
                          <a:cs typeface="Arial" panose="020B0604020202020204" pitchFamily="34" charset="0"/>
                        </a:rPr>
                        <a:t>1941/1942</a:t>
                      </a:r>
                      <a:endParaRPr lang="es-AR" sz="1200" b="0"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s-AR" sz="1200" b="0" u="none" strike="noStrike">
                          <a:solidFill>
                            <a:srgbClr val="000000"/>
                          </a:solidFill>
                          <a:effectLst/>
                          <a:latin typeface="Arial" panose="020B0604020202020204" pitchFamily="34" charset="0"/>
                          <a:cs typeface="Arial" panose="020B0604020202020204" pitchFamily="34" charset="0"/>
                        </a:rPr>
                        <a:t>Santa Fe</a:t>
                      </a:r>
                      <a:endParaRPr lang="es-AR" sz="1200" b="0"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s-AR" sz="1200" b="0" u="none" strike="noStrike">
                          <a:solidFill>
                            <a:srgbClr val="000000"/>
                          </a:solidFill>
                          <a:effectLst/>
                          <a:latin typeface="Arial" panose="020B0604020202020204" pitchFamily="34" charset="0"/>
                          <a:cs typeface="Arial" panose="020B0604020202020204" pitchFamily="34" charset="0"/>
                        </a:rPr>
                        <a:t>82</a:t>
                      </a:r>
                      <a:endParaRPr lang="es-AR" sz="1200" b="0"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s-AR" sz="1200" b="0" u="none" strike="noStrike">
                          <a:solidFill>
                            <a:srgbClr val="000000"/>
                          </a:solidFill>
                          <a:effectLst/>
                          <a:latin typeface="Arial" panose="020B0604020202020204" pitchFamily="34" charset="0"/>
                          <a:cs typeface="Arial" panose="020B0604020202020204" pitchFamily="34" charset="0"/>
                        </a:rPr>
                        <a:t>ConstituciÃ³n</a:t>
                      </a:r>
                      <a:endParaRPr lang="es-AR" sz="1200" b="0"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s-AR" sz="1200" b="0" u="none" strike="noStrike">
                          <a:solidFill>
                            <a:srgbClr val="000000"/>
                          </a:solidFill>
                          <a:effectLst/>
                          <a:latin typeface="Arial" panose="020B0604020202020204" pitchFamily="34" charset="0"/>
                          <a:cs typeface="Arial" panose="020B0604020202020204" pitchFamily="34" charset="0"/>
                        </a:rPr>
                        <a:t>82028.0</a:t>
                      </a:r>
                      <a:endParaRPr lang="es-AR" sz="1200" b="0"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s-AR" sz="1200" b="0" u="none" strike="noStrike">
                          <a:solidFill>
                            <a:srgbClr val="000000"/>
                          </a:solidFill>
                          <a:effectLst/>
                          <a:latin typeface="Arial" panose="020B0604020202020204" pitchFamily="34" charset="0"/>
                          <a:cs typeface="Arial" panose="020B0604020202020204" pitchFamily="34" charset="0"/>
                        </a:rPr>
                        <a:t>50</a:t>
                      </a:r>
                      <a:endParaRPr lang="es-AR" sz="1200" b="0"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s-AR" sz="1200" b="0" u="none" strike="noStrike">
                          <a:solidFill>
                            <a:srgbClr val="000000"/>
                          </a:solidFill>
                          <a:effectLst/>
                          <a:latin typeface="Arial" panose="020B0604020202020204" pitchFamily="34" charset="0"/>
                          <a:cs typeface="Arial" panose="020B0604020202020204" pitchFamily="34" charset="0"/>
                        </a:rPr>
                        <a:t>50</a:t>
                      </a:r>
                      <a:endParaRPr lang="es-AR" sz="1200" b="0"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s-AR" sz="1200" b="0" u="none" strike="noStrike">
                          <a:solidFill>
                            <a:srgbClr val="000000"/>
                          </a:solidFill>
                          <a:effectLst/>
                          <a:latin typeface="Arial" panose="020B0604020202020204" pitchFamily="34" charset="0"/>
                          <a:cs typeface="Arial" panose="020B0604020202020204" pitchFamily="34" charset="0"/>
                        </a:rPr>
                        <a:t>100</a:t>
                      </a:r>
                      <a:endParaRPr lang="es-AR" sz="1200" b="0"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s-AR" sz="1200" b="0" u="none" strike="noStrike">
                          <a:solidFill>
                            <a:srgbClr val="000000"/>
                          </a:solidFill>
                          <a:effectLst/>
                          <a:latin typeface="Arial" panose="020B0604020202020204" pitchFamily="34" charset="0"/>
                          <a:cs typeface="Arial" panose="020B0604020202020204" pitchFamily="34" charset="0"/>
                        </a:rPr>
                        <a:t>2000</a:t>
                      </a:r>
                      <a:endParaRPr lang="es-AR" sz="1200" b="0"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294086319"/>
                  </a:ext>
                </a:extLst>
              </a:tr>
              <a:tr h="190500">
                <a:tc>
                  <a:txBody>
                    <a:bodyPr/>
                    <a:lstStyle/>
                    <a:p>
                      <a:pPr algn="l" fontAlgn="b"/>
                      <a:r>
                        <a:rPr lang="es-AR" sz="1200" b="0" u="none" strike="noStrike">
                          <a:solidFill>
                            <a:srgbClr val="000000"/>
                          </a:solidFill>
                          <a:effectLst/>
                          <a:latin typeface="Arial" panose="020B0604020202020204" pitchFamily="34" charset="0"/>
                          <a:cs typeface="Arial" panose="020B0604020202020204" pitchFamily="34" charset="0"/>
                        </a:rPr>
                        <a:t>soja</a:t>
                      </a:r>
                      <a:endParaRPr lang="es-AR" sz="1200" b="0"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s-AR" sz="1200" b="0" u="none" strike="noStrike">
                          <a:solidFill>
                            <a:srgbClr val="000000"/>
                          </a:solidFill>
                          <a:effectLst/>
                          <a:latin typeface="Arial" panose="020B0604020202020204" pitchFamily="34" charset="0"/>
                          <a:cs typeface="Arial" panose="020B0604020202020204" pitchFamily="34" charset="0"/>
                        </a:rPr>
                        <a:t>1941</a:t>
                      </a:r>
                      <a:endParaRPr lang="es-AR" sz="1200" b="0"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s-AR" sz="1200" b="0" u="none" strike="noStrike">
                          <a:solidFill>
                            <a:srgbClr val="000000"/>
                          </a:solidFill>
                          <a:effectLst/>
                          <a:latin typeface="Arial" panose="020B0604020202020204" pitchFamily="34" charset="0"/>
                          <a:cs typeface="Arial" panose="020B0604020202020204" pitchFamily="34" charset="0"/>
                        </a:rPr>
                        <a:t>1941/1942</a:t>
                      </a:r>
                      <a:endParaRPr lang="es-AR" sz="1200" b="0"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s-AR" sz="1200" b="0" u="none" strike="noStrike">
                          <a:solidFill>
                            <a:srgbClr val="000000"/>
                          </a:solidFill>
                          <a:effectLst/>
                          <a:latin typeface="Arial" panose="020B0604020202020204" pitchFamily="34" charset="0"/>
                          <a:cs typeface="Arial" panose="020B0604020202020204" pitchFamily="34" charset="0"/>
                        </a:rPr>
                        <a:t>Santa Fe</a:t>
                      </a:r>
                      <a:endParaRPr lang="es-AR" sz="1200" b="0"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s-AR" sz="1200" b="0" u="none" strike="noStrike">
                          <a:solidFill>
                            <a:srgbClr val="000000"/>
                          </a:solidFill>
                          <a:effectLst/>
                          <a:latin typeface="Arial" panose="020B0604020202020204" pitchFamily="34" charset="0"/>
                          <a:cs typeface="Arial" panose="020B0604020202020204" pitchFamily="34" charset="0"/>
                        </a:rPr>
                        <a:t>82</a:t>
                      </a:r>
                      <a:endParaRPr lang="es-AR" sz="1200" b="0"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s-AR" sz="1200" b="0" u="none" strike="noStrike">
                          <a:solidFill>
                            <a:srgbClr val="000000"/>
                          </a:solidFill>
                          <a:effectLst/>
                          <a:latin typeface="Arial" panose="020B0604020202020204" pitchFamily="34" charset="0"/>
                          <a:cs typeface="Arial" panose="020B0604020202020204" pitchFamily="34" charset="0"/>
                        </a:rPr>
                        <a:t>General LÃ³pez</a:t>
                      </a:r>
                      <a:endParaRPr lang="es-AR" sz="1200" b="0"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s-AR" sz="1200" b="0" u="none" strike="noStrike">
                          <a:solidFill>
                            <a:srgbClr val="000000"/>
                          </a:solidFill>
                          <a:effectLst/>
                          <a:latin typeface="Arial" panose="020B0604020202020204" pitchFamily="34" charset="0"/>
                          <a:cs typeface="Arial" panose="020B0604020202020204" pitchFamily="34" charset="0"/>
                        </a:rPr>
                        <a:t>82042.0</a:t>
                      </a:r>
                      <a:endParaRPr lang="es-AR" sz="1200" b="0"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s-AR" sz="1200" b="0" u="none" strike="noStrike">
                          <a:solidFill>
                            <a:srgbClr val="000000"/>
                          </a:solidFill>
                          <a:effectLst/>
                          <a:latin typeface="Arial" panose="020B0604020202020204" pitchFamily="34" charset="0"/>
                          <a:cs typeface="Arial" panose="020B0604020202020204" pitchFamily="34" charset="0"/>
                        </a:rPr>
                        <a:t>80</a:t>
                      </a:r>
                      <a:endParaRPr lang="es-AR" sz="1200" b="0"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s-AR" sz="1200" b="0" u="none" strike="noStrike">
                          <a:solidFill>
                            <a:srgbClr val="000000"/>
                          </a:solidFill>
                          <a:effectLst/>
                          <a:latin typeface="Arial" panose="020B0604020202020204" pitchFamily="34" charset="0"/>
                          <a:cs typeface="Arial" panose="020B0604020202020204" pitchFamily="34" charset="0"/>
                        </a:rPr>
                        <a:t>65</a:t>
                      </a:r>
                      <a:endParaRPr lang="es-AR" sz="1200" b="0"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s-AR" sz="1200" b="0" u="none" strike="noStrike">
                          <a:solidFill>
                            <a:srgbClr val="000000"/>
                          </a:solidFill>
                          <a:effectLst/>
                          <a:latin typeface="Arial" panose="020B0604020202020204" pitchFamily="34" charset="0"/>
                          <a:cs typeface="Arial" panose="020B0604020202020204" pitchFamily="34" charset="0"/>
                        </a:rPr>
                        <a:t>32</a:t>
                      </a:r>
                      <a:endParaRPr lang="es-AR" sz="1200" b="0"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s-AR" sz="1200" b="0" u="none" strike="noStrike">
                          <a:solidFill>
                            <a:srgbClr val="000000"/>
                          </a:solidFill>
                          <a:effectLst/>
                          <a:latin typeface="Arial" panose="020B0604020202020204" pitchFamily="34" charset="0"/>
                          <a:cs typeface="Arial" panose="020B0604020202020204" pitchFamily="34" charset="0"/>
                        </a:rPr>
                        <a:t>492</a:t>
                      </a:r>
                      <a:endParaRPr lang="es-AR" sz="1200" b="0"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1191203374"/>
                  </a:ext>
                </a:extLst>
              </a:tr>
              <a:tr h="190500">
                <a:tc>
                  <a:txBody>
                    <a:bodyPr/>
                    <a:lstStyle/>
                    <a:p>
                      <a:pPr algn="l" fontAlgn="b"/>
                      <a:r>
                        <a:rPr lang="es-AR" sz="1200" b="0" u="none" strike="noStrike" dirty="0">
                          <a:solidFill>
                            <a:srgbClr val="000000"/>
                          </a:solidFill>
                          <a:effectLst/>
                          <a:latin typeface="Arial" panose="020B0604020202020204" pitchFamily="34" charset="0"/>
                          <a:cs typeface="Arial" panose="020B0604020202020204" pitchFamily="34" charset="0"/>
                        </a:rPr>
                        <a:t>soja</a:t>
                      </a:r>
                      <a:endParaRPr lang="es-AR" sz="1200" b="0" i="0" u="none" strike="noStrike" dirty="0">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s-AR" sz="1200" b="0" u="none" strike="noStrike">
                          <a:solidFill>
                            <a:srgbClr val="000000"/>
                          </a:solidFill>
                          <a:effectLst/>
                          <a:latin typeface="Arial" panose="020B0604020202020204" pitchFamily="34" charset="0"/>
                          <a:cs typeface="Arial" panose="020B0604020202020204" pitchFamily="34" charset="0"/>
                        </a:rPr>
                        <a:t>1941</a:t>
                      </a:r>
                      <a:endParaRPr lang="es-AR" sz="1200" b="0"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s-AR" sz="1200" b="0" u="none" strike="noStrike">
                          <a:solidFill>
                            <a:srgbClr val="000000"/>
                          </a:solidFill>
                          <a:effectLst/>
                          <a:latin typeface="Arial" panose="020B0604020202020204" pitchFamily="34" charset="0"/>
                          <a:cs typeface="Arial" panose="020B0604020202020204" pitchFamily="34" charset="0"/>
                        </a:rPr>
                        <a:t>1941/1942</a:t>
                      </a:r>
                      <a:endParaRPr lang="es-AR" sz="1200" b="0"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s-AR" sz="1200" b="0" u="none" strike="noStrike">
                          <a:solidFill>
                            <a:srgbClr val="000000"/>
                          </a:solidFill>
                          <a:effectLst/>
                          <a:latin typeface="Arial" panose="020B0604020202020204" pitchFamily="34" charset="0"/>
                          <a:cs typeface="Arial" panose="020B0604020202020204" pitchFamily="34" charset="0"/>
                        </a:rPr>
                        <a:t>Santa Fe</a:t>
                      </a:r>
                      <a:endParaRPr lang="es-AR" sz="1200" b="0"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s-AR" sz="1200" b="0" u="none" strike="noStrike">
                          <a:solidFill>
                            <a:srgbClr val="000000"/>
                          </a:solidFill>
                          <a:effectLst/>
                          <a:latin typeface="Arial" panose="020B0604020202020204" pitchFamily="34" charset="0"/>
                          <a:cs typeface="Arial" panose="020B0604020202020204" pitchFamily="34" charset="0"/>
                        </a:rPr>
                        <a:t>82</a:t>
                      </a:r>
                      <a:endParaRPr lang="es-AR" sz="1200" b="0"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s-AR" sz="1200" b="0" u="none" strike="noStrike" dirty="0">
                          <a:solidFill>
                            <a:srgbClr val="000000"/>
                          </a:solidFill>
                          <a:effectLst/>
                          <a:latin typeface="Arial" panose="020B0604020202020204" pitchFamily="34" charset="0"/>
                          <a:cs typeface="Arial" panose="020B0604020202020204" pitchFamily="34" charset="0"/>
                        </a:rPr>
                        <a:t>Iriondo</a:t>
                      </a:r>
                      <a:endParaRPr lang="es-AR" sz="1200" b="0" i="0" u="none" strike="noStrike" dirty="0">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l" fontAlgn="b"/>
                      <a:r>
                        <a:rPr lang="es-AR" sz="1200" b="0" u="none" strike="noStrike">
                          <a:solidFill>
                            <a:srgbClr val="000000"/>
                          </a:solidFill>
                          <a:effectLst/>
                          <a:latin typeface="Arial" panose="020B0604020202020204" pitchFamily="34" charset="0"/>
                          <a:cs typeface="Arial" panose="020B0604020202020204" pitchFamily="34" charset="0"/>
                        </a:rPr>
                        <a:t>82056.0</a:t>
                      </a:r>
                      <a:endParaRPr lang="es-AR" sz="1200" b="0"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s-AR" sz="1200" b="0" u="none" strike="noStrike">
                          <a:solidFill>
                            <a:srgbClr val="000000"/>
                          </a:solidFill>
                          <a:effectLst/>
                          <a:latin typeface="Arial" panose="020B0604020202020204" pitchFamily="34" charset="0"/>
                          <a:cs typeface="Arial" panose="020B0604020202020204" pitchFamily="34" charset="0"/>
                        </a:rPr>
                        <a:t>70</a:t>
                      </a:r>
                      <a:endParaRPr lang="es-AR" sz="1200" b="0"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s-AR" sz="1200" b="0" u="none" strike="noStrike">
                          <a:solidFill>
                            <a:srgbClr val="000000"/>
                          </a:solidFill>
                          <a:effectLst/>
                          <a:latin typeface="Arial" panose="020B0604020202020204" pitchFamily="34" charset="0"/>
                          <a:cs typeface="Arial" panose="020B0604020202020204" pitchFamily="34" charset="0"/>
                        </a:rPr>
                        <a:t>70</a:t>
                      </a:r>
                      <a:endParaRPr lang="es-AR" sz="1200" b="0"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s-AR" sz="1200" b="0" u="none" strike="noStrike">
                          <a:solidFill>
                            <a:srgbClr val="000000"/>
                          </a:solidFill>
                          <a:effectLst/>
                          <a:latin typeface="Arial" panose="020B0604020202020204" pitchFamily="34" charset="0"/>
                          <a:cs typeface="Arial" panose="020B0604020202020204" pitchFamily="34" charset="0"/>
                        </a:rPr>
                        <a:t>112</a:t>
                      </a:r>
                      <a:endParaRPr lang="es-AR" sz="1200" b="0" i="0" u="none" strike="noStrike">
                        <a:solidFill>
                          <a:srgbClr val="000000"/>
                        </a:solidFill>
                        <a:effectLst/>
                        <a:latin typeface="Arial" panose="020B0604020202020204" pitchFamily="34" charset="0"/>
                        <a:cs typeface="Arial" panose="020B0604020202020204" pitchFamily="34" charset="0"/>
                      </a:endParaRPr>
                    </a:p>
                  </a:txBody>
                  <a:tcPr marL="6350" marR="6350" marT="6350" marB="0" anchor="b"/>
                </a:tc>
                <a:tc>
                  <a:txBody>
                    <a:bodyPr/>
                    <a:lstStyle/>
                    <a:p>
                      <a:pPr algn="r" fontAlgn="b"/>
                      <a:r>
                        <a:rPr lang="es-AR" sz="1200" b="0" u="none" strike="noStrike" dirty="0">
                          <a:solidFill>
                            <a:srgbClr val="000000"/>
                          </a:solidFill>
                          <a:effectLst/>
                          <a:latin typeface="Arial" panose="020B0604020202020204" pitchFamily="34" charset="0"/>
                          <a:cs typeface="Arial" panose="020B0604020202020204" pitchFamily="34" charset="0"/>
                        </a:rPr>
                        <a:t>1600</a:t>
                      </a:r>
                      <a:endParaRPr lang="es-AR" sz="1200" b="0" i="0" u="none" strike="noStrike" dirty="0">
                        <a:solidFill>
                          <a:srgbClr val="000000"/>
                        </a:solidFill>
                        <a:effectLst/>
                        <a:latin typeface="Arial" panose="020B0604020202020204" pitchFamily="34" charset="0"/>
                        <a:cs typeface="Arial" panose="020B0604020202020204" pitchFamily="34" charset="0"/>
                      </a:endParaRPr>
                    </a:p>
                  </a:txBody>
                  <a:tcPr marL="6350" marR="6350" marT="6350" marB="0" anchor="b"/>
                </a:tc>
                <a:extLst>
                  <a:ext uri="{0D108BD9-81ED-4DB2-BD59-A6C34878D82A}">
                    <a16:rowId xmlns:a16="http://schemas.microsoft.com/office/drawing/2014/main" val="2902877897"/>
                  </a:ext>
                </a:extLst>
              </a:tr>
            </a:tbl>
          </a:graphicData>
        </a:graphic>
      </p:graphicFrame>
    </p:spTree>
    <p:extLst>
      <p:ext uri="{BB962C8B-B14F-4D97-AF65-F5344CB8AC3E}">
        <p14:creationId xmlns:p14="http://schemas.microsoft.com/office/powerpoint/2010/main" val="1654058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0"/>
                                  </p:stCondLst>
                                  <p:iterate>
                                    <p:tmPct val="10000"/>
                                  </p:iterate>
                                  <p:childTnLst>
                                    <p:set>
                                      <p:cBhvr>
                                        <p:cTn id="6" dur="1" fill="hold">
                                          <p:stCondLst>
                                            <p:cond delay="0"/>
                                          </p:stCondLst>
                                        </p:cTn>
                                        <p:tgtEl>
                                          <p:spTgt spid="6">
                                            <p:txEl>
                                              <p:pRg st="1" end="1"/>
                                            </p:txEl>
                                          </p:spTgt>
                                        </p:tgtEl>
                                        <p:attrNameLst>
                                          <p:attrName>style.visibility</p:attrName>
                                        </p:attrNameLst>
                                      </p:cBhvr>
                                      <p:to>
                                        <p:strVal val="visible"/>
                                      </p:to>
                                    </p:set>
                                    <p:animEffect transition="in" filter="fade">
                                      <p:cBhvr>
                                        <p:cTn id="7" dur="700"/>
                                        <p:tgtEl>
                                          <p:spTgt spid="6">
                                            <p:txEl>
                                              <p:pRg st="1" end="1"/>
                                            </p:txEl>
                                          </p:spTgt>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7"/>
                                        </p:tgtEl>
                                        <p:attrNameLst>
                                          <p:attrName>style.visibility</p:attrName>
                                        </p:attrNameLst>
                                      </p:cBhvr>
                                      <p:to>
                                        <p:strVal val="visible"/>
                                      </p:to>
                                    </p:set>
                                    <p:animEffect transition="in" filter="fade">
                                      <p:cBhvr>
                                        <p:cTn id="10" dur="7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6E3254AE-C4CD-426D-A6E8-7FA13B0F8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descr="La soja puede rendir más | Sobre La Tierra">
            <a:extLst>
              <a:ext uri="{FF2B5EF4-FFF2-40B4-BE49-F238E27FC236}">
                <a16:creationId xmlns:a16="http://schemas.microsoft.com/office/drawing/2014/main" id="{24FBEC29-8B8B-A3C7-1CBB-AC21679411B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17734" y="2382047"/>
            <a:ext cx="4770219" cy="3394194"/>
          </a:xfrm>
          <a:prstGeom prst="roundRect">
            <a:avLst>
              <a:gd name="adj" fmla="val 530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a:extLst>
            <a:ext uri="{909E8E84-426E-40DD-AFC4-6F175D3DCCD1}">
              <a14:hiddenFill xmlns:a14="http://schemas.microsoft.com/office/drawing/2010/main">
                <a:solidFill>
                  <a:srgbClr val="FFFFFF"/>
                </a:solidFill>
              </a14:hiddenFill>
            </a:ext>
          </a:extLst>
        </p:spPr>
      </p:pic>
      <p:pic>
        <p:nvPicPr>
          <p:cNvPr id="4105" name="Picture 4104">
            <a:extLst>
              <a:ext uri="{FF2B5EF4-FFF2-40B4-BE49-F238E27FC236}">
                <a16:creationId xmlns:a16="http://schemas.microsoft.com/office/drawing/2014/main" id="{F5C53434-A0C7-4A81-8EB0-D460DAD9BB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ítulo 1">
            <a:extLst>
              <a:ext uri="{FF2B5EF4-FFF2-40B4-BE49-F238E27FC236}">
                <a16:creationId xmlns:a16="http://schemas.microsoft.com/office/drawing/2014/main" id="{A941DFC6-0172-3D3C-727B-D79F762E089F}"/>
              </a:ext>
            </a:extLst>
          </p:cNvPr>
          <p:cNvSpPr>
            <a:spLocks noGrp="1"/>
          </p:cNvSpPr>
          <p:nvPr>
            <p:ph type="title"/>
          </p:nvPr>
        </p:nvSpPr>
        <p:spPr>
          <a:xfrm>
            <a:off x="913775" y="618517"/>
            <a:ext cx="10364451" cy="1596177"/>
          </a:xfrm>
        </p:spPr>
        <p:txBody>
          <a:bodyPr>
            <a:normAutofit/>
          </a:bodyPr>
          <a:lstStyle/>
          <a:p>
            <a:r>
              <a:rPr lang="es-AR" dirty="0"/>
              <a:t>OBJETIVOS</a:t>
            </a:r>
          </a:p>
        </p:txBody>
      </p:sp>
      <p:sp>
        <p:nvSpPr>
          <p:cNvPr id="3" name="Marcador de contenido 2">
            <a:extLst>
              <a:ext uri="{FF2B5EF4-FFF2-40B4-BE49-F238E27FC236}">
                <a16:creationId xmlns:a16="http://schemas.microsoft.com/office/drawing/2014/main" id="{E1AA0B2D-C5FF-B083-B4A8-D496E164FADB}"/>
              </a:ext>
            </a:extLst>
          </p:cNvPr>
          <p:cNvSpPr>
            <a:spLocks noGrp="1"/>
          </p:cNvSpPr>
          <p:nvPr>
            <p:ph sz="quarter" idx="13"/>
          </p:nvPr>
        </p:nvSpPr>
        <p:spPr>
          <a:xfrm>
            <a:off x="913774" y="2367092"/>
            <a:ext cx="4860493" cy="3424107"/>
          </a:xfrm>
        </p:spPr>
        <p:txBody>
          <a:bodyPr>
            <a:normAutofit/>
          </a:bodyPr>
          <a:lstStyle/>
          <a:p>
            <a:pPr marL="457200" indent="-457200">
              <a:lnSpc>
                <a:spcPct val="110000"/>
              </a:lnSpc>
              <a:buFont typeface="+mj-lt"/>
              <a:buAutoNum type="arabicPeriod"/>
            </a:pPr>
            <a:r>
              <a:rPr lang="es-MX" sz="1600" b="0" i="0">
                <a:effectLst/>
                <a:latin typeface="Roboto" panose="02000000000000000000" pitchFamily="2" charset="0"/>
              </a:rPr>
              <a:t>Objetivos Reducir la dimensionalidad del dataset mediante técnicas de selección de variables.</a:t>
            </a:r>
          </a:p>
          <a:p>
            <a:pPr marL="457200" indent="-457200">
              <a:lnSpc>
                <a:spcPct val="110000"/>
              </a:lnSpc>
              <a:buFont typeface="+mj-lt"/>
              <a:buAutoNum type="arabicPeriod"/>
            </a:pPr>
            <a:r>
              <a:rPr lang="es-MX" sz="1600" b="0" i="0">
                <a:effectLst/>
                <a:latin typeface="Roboto" panose="02000000000000000000" pitchFamily="2" charset="0"/>
              </a:rPr>
              <a:t>Entrenar un modelo de regresión para predecir la producción de soja (produccion_tm).</a:t>
            </a:r>
          </a:p>
          <a:p>
            <a:pPr marL="457200" indent="-457200">
              <a:lnSpc>
                <a:spcPct val="110000"/>
              </a:lnSpc>
              <a:buFont typeface="+mj-lt"/>
              <a:buAutoNum type="arabicPeriod"/>
            </a:pPr>
            <a:r>
              <a:rPr lang="es-MX" sz="1600" b="0" i="0">
                <a:effectLst/>
                <a:latin typeface="Roboto" panose="02000000000000000000" pitchFamily="2" charset="0"/>
              </a:rPr>
              <a:t>Validar el rendimiento del modelo utilizando métricas apropiadas.</a:t>
            </a:r>
          </a:p>
          <a:p>
            <a:pPr marL="457200" indent="-457200">
              <a:lnSpc>
                <a:spcPct val="110000"/>
              </a:lnSpc>
              <a:buFont typeface="+mj-lt"/>
              <a:buAutoNum type="arabicPeriod"/>
            </a:pPr>
            <a:r>
              <a:rPr lang="es-MX" sz="1600" b="0" i="0">
                <a:effectLst/>
                <a:latin typeface="Roboto" panose="02000000000000000000" pitchFamily="2" charset="0"/>
              </a:rPr>
              <a:t>Obtener conclusiones sobre las variables más relevantes y la calidad predictiva del modelo</a:t>
            </a:r>
          </a:p>
          <a:p>
            <a:pPr marL="457200" indent="-457200">
              <a:lnSpc>
                <a:spcPct val="110000"/>
              </a:lnSpc>
              <a:buFont typeface="+mj-lt"/>
              <a:buAutoNum type="arabicPeriod"/>
            </a:pPr>
            <a:endParaRPr lang="es-AR" sz="1600" dirty="0"/>
          </a:p>
        </p:txBody>
      </p:sp>
    </p:spTree>
    <p:extLst>
      <p:ext uri="{BB962C8B-B14F-4D97-AF65-F5344CB8AC3E}">
        <p14:creationId xmlns:p14="http://schemas.microsoft.com/office/powerpoint/2010/main" val="38993329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ADDB852-B4B2-152E-EE05-5668BEFA3C1E}"/>
              </a:ext>
            </a:extLst>
          </p:cNvPr>
          <p:cNvSpPr>
            <a:spLocks noGrp="1"/>
          </p:cNvSpPr>
          <p:nvPr>
            <p:ph type="title"/>
          </p:nvPr>
        </p:nvSpPr>
        <p:spPr>
          <a:xfrm>
            <a:off x="772257" y="106650"/>
            <a:ext cx="10364451" cy="1596177"/>
          </a:xfrm>
        </p:spPr>
        <p:txBody>
          <a:bodyPr/>
          <a:lstStyle/>
          <a:p>
            <a:r>
              <a:rPr kumimoji="0" lang="es-AR" altLang="es-AR" sz="3600" b="1" i="0" u="none" strike="noStrike" cap="none" normalizeH="0" baseline="0" dirty="0">
                <a:ln>
                  <a:noFill/>
                </a:ln>
                <a:solidFill>
                  <a:schemeClr val="tx1"/>
                </a:solidFill>
                <a:effectLst/>
                <a:latin typeface="Arial" panose="020B0604020202020204" pitchFamily="34" charset="0"/>
              </a:rPr>
              <a:t> Selección de variables (</a:t>
            </a:r>
            <a:r>
              <a:rPr kumimoji="0" lang="es-AR" altLang="es-AR" sz="3600" b="1" i="0" u="none" strike="noStrike" cap="none" normalizeH="0" baseline="0" dirty="0" err="1">
                <a:ln>
                  <a:noFill/>
                </a:ln>
                <a:solidFill>
                  <a:schemeClr val="tx1"/>
                </a:solidFill>
                <a:effectLst/>
                <a:latin typeface="Arial" panose="020B0604020202020204" pitchFamily="34" charset="0"/>
              </a:rPr>
              <a:t>Feature</a:t>
            </a:r>
            <a:r>
              <a:rPr kumimoji="0" lang="es-AR" altLang="es-AR" sz="3600" b="1" i="0" u="none" strike="noStrike" cap="none" normalizeH="0" baseline="0" dirty="0">
                <a:ln>
                  <a:noFill/>
                </a:ln>
                <a:solidFill>
                  <a:schemeClr val="tx1"/>
                </a:solidFill>
                <a:effectLst/>
                <a:latin typeface="Arial" panose="020B0604020202020204" pitchFamily="34" charset="0"/>
              </a:rPr>
              <a:t> </a:t>
            </a:r>
            <a:r>
              <a:rPr kumimoji="0" lang="es-AR" altLang="es-AR" sz="3600" b="1" i="0" u="none" strike="noStrike" cap="none" normalizeH="0" baseline="0" dirty="0" err="1">
                <a:ln>
                  <a:noFill/>
                </a:ln>
                <a:solidFill>
                  <a:schemeClr val="tx1"/>
                </a:solidFill>
                <a:effectLst/>
                <a:latin typeface="Arial" panose="020B0604020202020204" pitchFamily="34" charset="0"/>
              </a:rPr>
              <a:t>Selection</a:t>
            </a:r>
            <a:r>
              <a:rPr kumimoji="0" lang="es-AR" altLang="es-AR" sz="3600" b="1" i="0" u="none" strike="noStrike" cap="none" normalizeH="0" baseline="0" dirty="0">
                <a:ln>
                  <a:noFill/>
                </a:ln>
                <a:solidFill>
                  <a:schemeClr val="tx1"/>
                </a:solidFill>
                <a:effectLst/>
                <a:latin typeface="Arial" panose="020B0604020202020204" pitchFamily="34" charset="0"/>
              </a:rPr>
              <a:t>)</a:t>
            </a:r>
            <a:endParaRPr lang="es-AR" dirty="0"/>
          </a:p>
        </p:txBody>
      </p:sp>
      <p:sp>
        <p:nvSpPr>
          <p:cNvPr id="6" name="Rectangle 1">
            <a:extLst>
              <a:ext uri="{FF2B5EF4-FFF2-40B4-BE49-F238E27FC236}">
                <a16:creationId xmlns:a16="http://schemas.microsoft.com/office/drawing/2014/main" id="{B1D01755-68F4-C2BB-6DEC-A3DA31C13B63}"/>
              </a:ext>
            </a:extLst>
          </p:cNvPr>
          <p:cNvSpPr>
            <a:spLocks noChangeArrowheads="1"/>
          </p:cNvSpPr>
          <p:nvPr/>
        </p:nvSpPr>
        <p:spPr bwMode="auto">
          <a:xfrm>
            <a:off x="304169" y="1869425"/>
            <a:ext cx="1154915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i="0" u="none" strike="noStrike" cap="none" normalizeH="0" baseline="0" dirty="0">
                <a:ln>
                  <a:noFill/>
                </a:ln>
                <a:solidFill>
                  <a:schemeClr val="tx1"/>
                </a:solidFill>
                <a:effectLst/>
                <a:latin typeface="Arial" panose="020B0604020202020204" pitchFamily="34" charset="0"/>
                <a:cs typeface="Arial" panose="020B0604020202020204" pitchFamily="34" charset="0"/>
              </a:rPr>
              <a:t>Objetivo: reducir la cantidad de variables para entrenar el modelo con las más relevantes.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AR" altLang="es-AR" sz="200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
        <p:nvSpPr>
          <p:cNvPr id="7" name="Rectangle 1">
            <a:extLst>
              <a:ext uri="{FF2B5EF4-FFF2-40B4-BE49-F238E27FC236}">
                <a16:creationId xmlns:a16="http://schemas.microsoft.com/office/drawing/2014/main" id="{B3C5F303-07B4-F89D-0D3B-81E2C1672390}"/>
              </a:ext>
            </a:extLst>
          </p:cNvPr>
          <p:cNvSpPr>
            <a:spLocks noChangeArrowheads="1"/>
          </p:cNvSpPr>
          <p:nvPr/>
        </p:nvSpPr>
        <p:spPr bwMode="auto">
          <a:xfrm>
            <a:off x="772257" y="2743909"/>
            <a:ext cx="819636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i="0" u="none" strike="noStrike" cap="none" normalizeH="0" baseline="0" dirty="0">
                <a:ln>
                  <a:noFill/>
                </a:ln>
                <a:solidFill>
                  <a:schemeClr val="tx1"/>
                </a:solidFill>
                <a:effectLst/>
                <a:latin typeface="Arial" panose="020B0604020202020204" pitchFamily="34" charset="0"/>
                <a:cs typeface="Arial" panose="020B0604020202020204" pitchFamily="34" charset="0"/>
              </a:rPr>
              <a:t>Se </a:t>
            </a:r>
            <a:r>
              <a:rPr lang="es-AR" altLang="es-AR" sz="2000" dirty="0">
                <a:latin typeface="Arial" panose="020B0604020202020204" pitchFamily="34" charset="0"/>
                <a:cs typeface="Arial" panose="020B0604020202020204" pitchFamily="34" charset="0"/>
              </a:rPr>
              <a:t>generaron variables nueva para ampliar el </a:t>
            </a:r>
            <a:r>
              <a:rPr lang="es-AR" altLang="es-AR" sz="2000" dirty="0" err="1">
                <a:latin typeface="Arial" panose="020B0604020202020204" pitchFamily="34" charset="0"/>
                <a:cs typeface="Arial" panose="020B0604020202020204" pitchFamily="34" charset="0"/>
              </a:rPr>
              <a:t>dataset</a:t>
            </a:r>
            <a:r>
              <a:rPr lang="es-AR" altLang="es-AR" sz="2000" dirty="0">
                <a:latin typeface="Arial" panose="020B0604020202020204" pitchFamily="34" charset="0"/>
                <a:cs typeface="Arial" panose="020B0604020202020204" pitchFamily="34" charset="0"/>
              </a:rPr>
              <a:t>, estas fueron:</a:t>
            </a:r>
            <a:endParaRPr kumimoji="0" lang="es-AR" altLang="es-AR" sz="200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
        <p:nvSpPr>
          <p:cNvPr id="8" name="Rectángulo: esquinas redondeadas 7">
            <a:extLst>
              <a:ext uri="{FF2B5EF4-FFF2-40B4-BE49-F238E27FC236}">
                <a16:creationId xmlns:a16="http://schemas.microsoft.com/office/drawing/2014/main" id="{ED2B5BE6-70B5-9358-9A50-DB68CDDC53B6}"/>
              </a:ext>
            </a:extLst>
          </p:cNvPr>
          <p:cNvSpPr/>
          <p:nvPr/>
        </p:nvSpPr>
        <p:spPr>
          <a:xfrm>
            <a:off x="2883504" y="3216228"/>
            <a:ext cx="1926771" cy="849086"/>
          </a:xfrm>
          <a:prstGeom prst="roundRect">
            <a:avLst/>
          </a:prstGeom>
          <a:solidFill>
            <a:schemeClr val="accent2">
              <a:lumMod val="60000"/>
              <a:lumOff val="40000"/>
            </a:schemeClr>
          </a:solidFill>
          <a:ln>
            <a:solidFill>
              <a:srgbClr val="FFFFFF"/>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lumMod val="65000"/>
                    <a:lumOff val="35000"/>
                  </a:schemeClr>
                </a:solidFill>
              </a:rPr>
              <a:t>Temperatura a cosecha</a:t>
            </a:r>
          </a:p>
        </p:txBody>
      </p:sp>
      <p:sp>
        <p:nvSpPr>
          <p:cNvPr id="9" name="Rectángulo: esquinas redondeadas 8">
            <a:extLst>
              <a:ext uri="{FF2B5EF4-FFF2-40B4-BE49-F238E27FC236}">
                <a16:creationId xmlns:a16="http://schemas.microsoft.com/office/drawing/2014/main" id="{2D3C4CC2-56BD-0D7B-FD82-BB8217B60836}"/>
              </a:ext>
            </a:extLst>
          </p:cNvPr>
          <p:cNvSpPr/>
          <p:nvPr/>
        </p:nvSpPr>
        <p:spPr>
          <a:xfrm>
            <a:off x="4962675" y="3216228"/>
            <a:ext cx="1926771" cy="849086"/>
          </a:xfrm>
          <a:prstGeom prst="roundRect">
            <a:avLst/>
          </a:prstGeom>
          <a:solidFill>
            <a:schemeClr val="accent2">
              <a:lumMod val="60000"/>
              <a:lumOff val="40000"/>
            </a:schemeClr>
          </a:solidFill>
          <a:ln>
            <a:solidFill>
              <a:srgbClr val="FFFFFF"/>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lumMod val="65000"/>
                    <a:lumOff val="35000"/>
                  </a:schemeClr>
                </a:solidFill>
              </a:rPr>
              <a:t>Proteínas</a:t>
            </a:r>
          </a:p>
        </p:txBody>
      </p:sp>
      <p:sp>
        <p:nvSpPr>
          <p:cNvPr id="10" name="Rectángulo: esquinas redondeadas 9">
            <a:extLst>
              <a:ext uri="{FF2B5EF4-FFF2-40B4-BE49-F238E27FC236}">
                <a16:creationId xmlns:a16="http://schemas.microsoft.com/office/drawing/2014/main" id="{6B1C701D-A9F3-541F-0E5E-A9C3141B32F6}"/>
              </a:ext>
            </a:extLst>
          </p:cNvPr>
          <p:cNvSpPr/>
          <p:nvPr/>
        </p:nvSpPr>
        <p:spPr>
          <a:xfrm>
            <a:off x="7041846" y="3216228"/>
            <a:ext cx="1926771" cy="849086"/>
          </a:xfrm>
          <a:prstGeom prst="roundRect">
            <a:avLst/>
          </a:prstGeom>
          <a:solidFill>
            <a:schemeClr val="accent2">
              <a:lumMod val="60000"/>
              <a:lumOff val="40000"/>
            </a:schemeClr>
          </a:solidFill>
          <a:ln>
            <a:solidFill>
              <a:srgbClr val="FFFFFF"/>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lumMod val="65000"/>
                    <a:lumOff val="35000"/>
                  </a:schemeClr>
                </a:solidFill>
              </a:rPr>
              <a:t>Aceite</a:t>
            </a:r>
          </a:p>
        </p:txBody>
      </p:sp>
      <p:sp>
        <p:nvSpPr>
          <p:cNvPr id="11" name="Rectángulo: esquinas redondeadas 10">
            <a:extLst>
              <a:ext uri="{FF2B5EF4-FFF2-40B4-BE49-F238E27FC236}">
                <a16:creationId xmlns:a16="http://schemas.microsoft.com/office/drawing/2014/main" id="{42DB7657-EFBB-0130-737D-1B4970691BA0}"/>
              </a:ext>
            </a:extLst>
          </p:cNvPr>
          <p:cNvSpPr/>
          <p:nvPr/>
        </p:nvSpPr>
        <p:spPr>
          <a:xfrm>
            <a:off x="9121017" y="3216228"/>
            <a:ext cx="1926771" cy="849086"/>
          </a:xfrm>
          <a:prstGeom prst="roundRect">
            <a:avLst/>
          </a:prstGeom>
          <a:solidFill>
            <a:schemeClr val="accent2">
              <a:lumMod val="60000"/>
              <a:lumOff val="40000"/>
            </a:schemeClr>
          </a:solidFill>
          <a:ln>
            <a:solidFill>
              <a:srgbClr val="FFFFFF"/>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lumMod val="65000"/>
                    <a:lumOff val="35000"/>
                  </a:schemeClr>
                </a:solidFill>
              </a:rPr>
              <a:t>Humedad del suelo</a:t>
            </a:r>
          </a:p>
        </p:txBody>
      </p:sp>
      <p:sp>
        <p:nvSpPr>
          <p:cNvPr id="12" name="Rectángulo: esquinas redondeadas 11">
            <a:extLst>
              <a:ext uri="{FF2B5EF4-FFF2-40B4-BE49-F238E27FC236}">
                <a16:creationId xmlns:a16="http://schemas.microsoft.com/office/drawing/2014/main" id="{B58CD0F8-699F-AF99-D593-0BC42B57E2CA}"/>
              </a:ext>
            </a:extLst>
          </p:cNvPr>
          <p:cNvSpPr/>
          <p:nvPr/>
        </p:nvSpPr>
        <p:spPr>
          <a:xfrm>
            <a:off x="2072807" y="5150911"/>
            <a:ext cx="1926771" cy="849086"/>
          </a:xfrm>
          <a:prstGeom prst="roundRect">
            <a:avLst/>
          </a:prstGeom>
          <a:solidFill>
            <a:schemeClr val="accent2">
              <a:lumMod val="75000"/>
            </a:schemeClr>
          </a:solidFill>
          <a:ln>
            <a:solidFill>
              <a:srgbClr val="FFFFFF"/>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lumMod val="65000"/>
                    <a:lumOff val="35000"/>
                  </a:schemeClr>
                </a:solidFill>
              </a:rPr>
              <a:t>Rendimiento</a:t>
            </a:r>
          </a:p>
        </p:txBody>
      </p:sp>
      <p:sp>
        <p:nvSpPr>
          <p:cNvPr id="13" name="Rectángulo: esquinas redondeadas 12">
            <a:extLst>
              <a:ext uri="{FF2B5EF4-FFF2-40B4-BE49-F238E27FC236}">
                <a16:creationId xmlns:a16="http://schemas.microsoft.com/office/drawing/2014/main" id="{9107050A-AD05-9FE0-5D07-594D1DD7F6EC}"/>
              </a:ext>
            </a:extLst>
          </p:cNvPr>
          <p:cNvSpPr/>
          <p:nvPr/>
        </p:nvSpPr>
        <p:spPr>
          <a:xfrm>
            <a:off x="4151978" y="5150911"/>
            <a:ext cx="1926771" cy="849086"/>
          </a:xfrm>
          <a:prstGeom prst="roundRect">
            <a:avLst/>
          </a:prstGeom>
          <a:solidFill>
            <a:schemeClr val="accent2">
              <a:lumMod val="75000"/>
            </a:schemeClr>
          </a:solidFill>
          <a:ln>
            <a:solidFill>
              <a:srgbClr val="FFFFFF"/>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lumMod val="65000"/>
                    <a:lumOff val="35000"/>
                  </a:schemeClr>
                </a:solidFill>
              </a:rPr>
              <a:t>Superficie sembrada</a:t>
            </a:r>
          </a:p>
        </p:txBody>
      </p:sp>
      <p:sp>
        <p:nvSpPr>
          <p:cNvPr id="14" name="Rectángulo: esquinas redondeadas 13">
            <a:extLst>
              <a:ext uri="{FF2B5EF4-FFF2-40B4-BE49-F238E27FC236}">
                <a16:creationId xmlns:a16="http://schemas.microsoft.com/office/drawing/2014/main" id="{9C1B8A47-4E15-8194-0A04-696117B41E80}"/>
              </a:ext>
            </a:extLst>
          </p:cNvPr>
          <p:cNvSpPr/>
          <p:nvPr/>
        </p:nvSpPr>
        <p:spPr>
          <a:xfrm>
            <a:off x="6231149" y="5150911"/>
            <a:ext cx="1926771" cy="849086"/>
          </a:xfrm>
          <a:prstGeom prst="roundRect">
            <a:avLst/>
          </a:prstGeom>
          <a:solidFill>
            <a:schemeClr val="accent2">
              <a:lumMod val="75000"/>
            </a:schemeClr>
          </a:solidFill>
          <a:ln>
            <a:solidFill>
              <a:srgbClr val="FFFFFF"/>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lumMod val="65000"/>
                    <a:lumOff val="35000"/>
                  </a:schemeClr>
                </a:solidFill>
              </a:rPr>
              <a:t>Superficie cosechada</a:t>
            </a:r>
          </a:p>
        </p:txBody>
      </p:sp>
      <p:sp>
        <p:nvSpPr>
          <p:cNvPr id="15" name="Rectángulo: esquinas redondeadas 14">
            <a:extLst>
              <a:ext uri="{FF2B5EF4-FFF2-40B4-BE49-F238E27FC236}">
                <a16:creationId xmlns:a16="http://schemas.microsoft.com/office/drawing/2014/main" id="{7CCE1F3C-454F-D05A-ED57-B21092F55E71}"/>
              </a:ext>
            </a:extLst>
          </p:cNvPr>
          <p:cNvSpPr/>
          <p:nvPr/>
        </p:nvSpPr>
        <p:spPr>
          <a:xfrm>
            <a:off x="8310320" y="5150911"/>
            <a:ext cx="1926771" cy="849086"/>
          </a:xfrm>
          <a:prstGeom prst="roundRect">
            <a:avLst/>
          </a:prstGeom>
          <a:solidFill>
            <a:schemeClr val="accent2">
              <a:lumMod val="75000"/>
            </a:schemeClr>
          </a:solidFill>
          <a:ln>
            <a:solidFill>
              <a:srgbClr val="FFFFFF"/>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lumMod val="65000"/>
                    <a:lumOff val="35000"/>
                  </a:schemeClr>
                </a:solidFill>
              </a:rPr>
              <a:t>Producción</a:t>
            </a:r>
          </a:p>
        </p:txBody>
      </p:sp>
      <p:sp>
        <p:nvSpPr>
          <p:cNvPr id="20" name="Rectangle 1">
            <a:extLst>
              <a:ext uri="{FF2B5EF4-FFF2-40B4-BE49-F238E27FC236}">
                <a16:creationId xmlns:a16="http://schemas.microsoft.com/office/drawing/2014/main" id="{67856D0F-1C11-7AB8-165A-D7918862C99A}"/>
              </a:ext>
            </a:extLst>
          </p:cNvPr>
          <p:cNvSpPr>
            <a:spLocks noChangeArrowheads="1"/>
          </p:cNvSpPr>
          <p:nvPr/>
        </p:nvSpPr>
        <p:spPr bwMode="auto">
          <a:xfrm>
            <a:off x="772257" y="4542327"/>
            <a:ext cx="819636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2000" i="0" u="none" strike="noStrike" cap="none" normalizeH="0" baseline="0" dirty="0">
                <a:ln>
                  <a:noFill/>
                </a:ln>
                <a:solidFill>
                  <a:schemeClr val="tx1"/>
                </a:solidFill>
                <a:effectLst/>
                <a:latin typeface="Arial" panose="020B0604020202020204" pitchFamily="34" charset="0"/>
                <a:cs typeface="Arial" panose="020B0604020202020204" pitchFamily="34" charset="0"/>
              </a:rPr>
              <a:t>Las variables seleccionadas por </a:t>
            </a:r>
            <a:r>
              <a:rPr kumimoji="0" lang="es-AR" altLang="es-AR" sz="200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Feature</a:t>
            </a:r>
            <a:r>
              <a:rPr kumimoji="0" lang="es-AR" altLang="es-AR" sz="200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s-AR" altLang="es-AR" sz="200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Selection</a:t>
            </a:r>
            <a:r>
              <a:rPr lang="es-AR" altLang="es-AR" sz="2000" dirty="0">
                <a:latin typeface="Arial" panose="020B0604020202020204" pitchFamily="34" charset="0"/>
                <a:cs typeface="Arial" panose="020B0604020202020204" pitchFamily="34" charset="0"/>
              </a:rPr>
              <a:t>, fueron:</a:t>
            </a:r>
            <a:endParaRPr kumimoji="0" lang="es-AR" altLang="es-AR" sz="200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89818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9"/>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D3B712DE-8F54-6DD2-38B3-146A4DE637ED}"/>
              </a:ext>
            </a:extLst>
          </p:cNvPr>
          <p:cNvPicPr>
            <a:picLocks noChangeAspect="1"/>
          </p:cNvPicPr>
          <p:nvPr/>
        </p:nvPicPr>
        <p:blipFill>
          <a:blip r:embed="rId2"/>
          <a:stretch>
            <a:fillRect/>
          </a:stretch>
        </p:blipFill>
        <p:spPr>
          <a:xfrm>
            <a:off x="3722915" y="293914"/>
            <a:ext cx="8360228" cy="6270171"/>
          </a:xfrm>
          <a:prstGeom prst="rect">
            <a:avLst/>
          </a:prstGeom>
        </p:spPr>
      </p:pic>
      <p:sp>
        <p:nvSpPr>
          <p:cNvPr id="6" name="CuadroTexto 5">
            <a:extLst>
              <a:ext uri="{FF2B5EF4-FFF2-40B4-BE49-F238E27FC236}">
                <a16:creationId xmlns:a16="http://schemas.microsoft.com/office/drawing/2014/main" id="{0D2D932D-B801-E223-9C79-E2D589EC629B}"/>
              </a:ext>
            </a:extLst>
          </p:cNvPr>
          <p:cNvSpPr txBox="1"/>
          <p:nvPr/>
        </p:nvSpPr>
        <p:spPr>
          <a:xfrm>
            <a:off x="108857" y="1607795"/>
            <a:ext cx="3614058" cy="3416320"/>
          </a:xfrm>
          <a:prstGeom prst="rect">
            <a:avLst/>
          </a:prstGeom>
          <a:noFill/>
        </p:spPr>
        <p:txBody>
          <a:bodyPr wrap="square">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s-AR" altLang="es-AR" sz="1800" i="0" u="none" strike="noStrike" cap="none" normalizeH="0" baseline="0" dirty="0">
                <a:ln>
                  <a:noFill/>
                </a:ln>
                <a:solidFill>
                  <a:schemeClr val="tx1"/>
                </a:solidFill>
                <a:effectLst/>
                <a:latin typeface="Arial" panose="020B0604020202020204" pitchFamily="34" charset="0"/>
                <a:cs typeface="Arial" panose="020B0604020202020204" pitchFamily="34" charset="0"/>
              </a:rPr>
              <a:t>Se utilizó el método de selección </a:t>
            </a:r>
            <a:r>
              <a:rPr kumimoji="0" lang="es-AR" altLang="es-AR" sz="180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univariada</a:t>
            </a:r>
            <a:r>
              <a:rPr kumimoji="0" lang="es-AR" altLang="es-AR" sz="180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s-AR" altLang="es-AR" sz="180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SelectKBest</a:t>
            </a:r>
            <a:r>
              <a:rPr kumimoji="0" lang="es-AR" altLang="es-AR" sz="1800" i="0" u="none" strike="noStrike" cap="none" normalizeH="0" baseline="0" dirty="0">
                <a:ln>
                  <a:noFill/>
                </a:ln>
                <a:solidFill>
                  <a:schemeClr val="tx1"/>
                </a:solidFill>
                <a:effectLst/>
                <a:latin typeface="Arial" panose="020B0604020202020204" pitchFamily="34" charset="0"/>
                <a:cs typeface="Arial" panose="020B0604020202020204" pitchFamily="34" charset="0"/>
              </a:rPr>
              <a:t> con la función </a:t>
            </a:r>
            <a:r>
              <a:rPr kumimoji="0" lang="es-AR" altLang="es-AR" sz="180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f_regression</a:t>
            </a:r>
            <a:r>
              <a:rPr kumimoji="0" lang="es-AR" altLang="es-AR" sz="1800" i="0" u="none" strike="noStrike" cap="none" normalizeH="0" baseline="0" dirty="0">
                <a:ln>
                  <a:noFill/>
                </a:ln>
                <a:solidFill>
                  <a:schemeClr val="tx1"/>
                </a:solidFill>
                <a:effectLst/>
                <a:latin typeface="Arial" panose="020B0604020202020204" pitchFamily="34" charset="0"/>
                <a:cs typeface="Arial" panose="020B0604020202020204" pitchFamily="34" charset="0"/>
              </a:rPr>
              <a:t> para identificar las variables más relevantes con respecto a la variable objetivo </a:t>
            </a:r>
            <a:r>
              <a:rPr kumimoji="0" lang="es-AR" altLang="es-AR" sz="18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producción de soja en toneladas </a:t>
            </a:r>
            <a:r>
              <a:rPr kumimoji="0" lang="es-AR" altLang="es-AR" sz="180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r>
              <a:rPr kumimoji="0" lang="es-AR" altLang="es-AR" sz="180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produccion_tm</a:t>
            </a:r>
            <a:r>
              <a:rPr kumimoji="0" lang="es-AR" altLang="es-AR" sz="180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p>
          <a:p>
            <a:pPr marL="0" marR="0" lvl="0" indent="0" defTabSz="914400" rtl="0" eaLnBrk="0" fontAlgn="base" latinLnBrk="0" hangingPunct="0">
              <a:lnSpc>
                <a:spcPct val="100000"/>
              </a:lnSpc>
              <a:spcBef>
                <a:spcPct val="0"/>
              </a:spcBef>
              <a:spcAft>
                <a:spcPct val="0"/>
              </a:spcAft>
              <a:buClrTx/>
              <a:buSzTx/>
              <a:buFontTx/>
              <a:buNone/>
              <a:tabLst/>
            </a:pPr>
            <a:r>
              <a:rPr kumimoji="0" lang="es-AR" altLang="es-AR" sz="1800" i="0" u="none" strike="noStrike" cap="none" normalizeH="0" baseline="0" dirty="0">
                <a:ln>
                  <a:noFill/>
                </a:ln>
                <a:solidFill>
                  <a:schemeClr val="tx1"/>
                </a:solidFill>
                <a:effectLst/>
                <a:latin typeface="Arial" panose="020B0604020202020204" pitchFamily="34" charset="0"/>
                <a:cs typeface="Arial" panose="020B0604020202020204" pitchFamily="34" charset="0"/>
              </a:rPr>
              <a:t>Lo cual, permitió reducir la dimensionalidad del </a:t>
            </a:r>
            <a:r>
              <a:rPr kumimoji="0" lang="es-AR" altLang="es-AR" sz="180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dataset</a:t>
            </a:r>
            <a:r>
              <a:rPr kumimoji="0" lang="es-AR" altLang="es-AR" sz="1800" i="0" u="none" strike="noStrike" cap="none" normalizeH="0" baseline="0" dirty="0">
                <a:ln>
                  <a:noFill/>
                </a:ln>
                <a:solidFill>
                  <a:schemeClr val="tx1"/>
                </a:solidFill>
                <a:effectLst/>
                <a:latin typeface="Arial" panose="020B0604020202020204" pitchFamily="34" charset="0"/>
                <a:cs typeface="Arial" panose="020B0604020202020204" pitchFamily="34" charset="0"/>
              </a:rPr>
              <a:t> y optimizar el rendimiento de los modelos.</a:t>
            </a:r>
          </a:p>
        </p:txBody>
      </p:sp>
    </p:spTree>
    <p:extLst>
      <p:ext uri="{BB962C8B-B14F-4D97-AF65-F5344CB8AC3E}">
        <p14:creationId xmlns:p14="http://schemas.microsoft.com/office/powerpoint/2010/main" val="17814969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610EC97B-2309-F20C-A699-E7163D4EC703}"/>
              </a:ext>
            </a:extLst>
          </p:cNvPr>
          <p:cNvSpPr>
            <a:spLocks noChangeArrowheads="1"/>
          </p:cNvSpPr>
          <p:nvPr/>
        </p:nvSpPr>
        <p:spPr bwMode="auto">
          <a:xfrm>
            <a:off x="500739" y="1725853"/>
            <a:ext cx="5617417"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1800" b="0" i="0" u="none" strike="noStrike" cap="none" normalizeH="0" baseline="0" dirty="0">
                <a:ln>
                  <a:noFill/>
                </a:ln>
                <a:solidFill>
                  <a:schemeClr val="tx1"/>
                </a:solidFill>
                <a:effectLst/>
                <a:latin typeface="Arial" panose="020B0604020202020204" pitchFamily="34" charset="0"/>
              </a:rPr>
              <a:t>Se eligieron dos modelos de regresión para la predicción de la producción de soja:</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lang="es-AR" altLang="es-AR" b="1" dirty="0">
                <a:latin typeface="Arial" panose="020B0604020202020204" pitchFamily="34" charset="0"/>
              </a:rPr>
              <a:t>R</a:t>
            </a:r>
            <a:r>
              <a:rPr kumimoji="0" lang="es-AR" altLang="es-AR" sz="1800" b="1" i="0" u="none" strike="noStrike" cap="none" normalizeH="0" baseline="0" dirty="0">
                <a:ln>
                  <a:noFill/>
                </a:ln>
                <a:solidFill>
                  <a:schemeClr val="tx1"/>
                </a:solidFill>
                <a:effectLst/>
                <a:latin typeface="Arial" panose="020B0604020202020204" pitchFamily="34" charset="0"/>
              </a:rPr>
              <a:t>egresión lineal</a:t>
            </a:r>
            <a:r>
              <a:rPr kumimoji="0" lang="es-AR" altLang="es-AR" sz="1800" b="0" i="0" u="none" strike="noStrike" cap="none" normalizeH="0" baseline="0" dirty="0">
                <a:ln>
                  <a:noFill/>
                </a:ln>
                <a:solidFill>
                  <a:schemeClr val="tx1"/>
                </a:solidFill>
                <a:effectLst/>
                <a:latin typeface="Arial" panose="020B0604020202020204" pitchFamily="34" charset="0"/>
              </a:rPr>
              <a:t>, por su simplicidad y facilidad de interpretación.</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lang="es-AR" altLang="es-AR" b="1" dirty="0" err="1">
                <a:latin typeface="Arial" panose="020B0604020202020204" pitchFamily="34" charset="0"/>
              </a:rPr>
              <a:t>R</a:t>
            </a:r>
            <a:r>
              <a:rPr kumimoji="0" lang="es-AR" altLang="es-AR" sz="1800" b="1" i="0" u="none" strike="noStrike" cap="none" normalizeH="0" baseline="0" dirty="0" err="1">
                <a:ln>
                  <a:noFill/>
                </a:ln>
                <a:solidFill>
                  <a:schemeClr val="tx1"/>
                </a:solidFill>
                <a:effectLst/>
                <a:latin typeface="Arial" panose="020B0604020202020204" pitchFamily="34" charset="0"/>
              </a:rPr>
              <a:t>andom</a:t>
            </a:r>
            <a:r>
              <a:rPr kumimoji="0" lang="es-AR" altLang="es-AR" sz="1800" b="1" i="0" u="none" strike="noStrike" cap="none" normalizeH="0" baseline="0" dirty="0">
                <a:ln>
                  <a:noFill/>
                </a:ln>
                <a:solidFill>
                  <a:schemeClr val="tx1"/>
                </a:solidFill>
                <a:effectLst/>
                <a:latin typeface="Arial" panose="020B0604020202020204" pitchFamily="34" charset="0"/>
              </a:rPr>
              <a:t> </a:t>
            </a:r>
            <a:r>
              <a:rPr kumimoji="0" lang="es-AR" altLang="es-AR" sz="1800" b="1" i="0" u="none" strike="noStrike" cap="none" normalizeH="0" baseline="0" dirty="0" err="1">
                <a:ln>
                  <a:noFill/>
                </a:ln>
                <a:solidFill>
                  <a:schemeClr val="tx1"/>
                </a:solidFill>
                <a:effectLst/>
                <a:latin typeface="Arial" panose="020B0604020202020204" pitchFamily="34" charset="0"/>
              </a:rPr>
              <a:t>forest</a:t>
            </a:r>
            <a:r>
              <a:rPr kumimoji="0" lang="es-AR" altLang="es-AR" sz="1800" b="0" i="0" u="none" strike="noStrike" cap="none" normalizeH="0" baseline="0" dirty="0">
                <a:ln>
                  <a:noFill/>
                </a:ln>
                <a:solidFill>
                  <a:schemeClr val="tx1"/>
                </a:solidFill>
                <a:effectLst/>
                <a:latin typeface="Arial" panose="020B0604020202020204" pitchFamily="34" charset="0"/>
              </a:rPr>
              <a:t>, por su capacidad para capturar relaciones no lineales y manejar variables categóricas o ruidosas.</a:t>
            </a:r>
          </a:p>
        </p:txBody>
      </p:sp>
      <p:sp>
        <p:nvSpPr>
          <p:cNvPr id="6" name="CuadroTexto 5">
            <a:extLst>
              <a:ext uri="{FF2B5EF4-FFF2-40B4-BE49-F238E27FC236}">
                <a16:creationId xmlns:a16="http://schemas.microsoft.com/office/drawing/2014/main" id="{468E43B4-0228-A322-3449-FD2DC178F4AC}"/>
              </a:ext>
            </a:extLst>
          </p:cNvPr>
          <p:cNvSpPr txBox="1"/>
          <p:nvPr/>
        </p:nvSpPr>
        <p:spPr>
          <a:xfrm>
            <a:off x="413655" y="957708"/>
            <a:ext cx="5617417" cy="64633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AR" altLang="es-AR" sz="3600" b="1" i="0" u="none" strike="noStrike" cap="none" normalizeH="0" baseline="0" dirty="0">
                <a:ln>
                  <a:noFill/>
                </a:ln>
                <a:solidFill>
                  <a:schemeClr val="tx1"/>
                </a:solidFill>
                <a:effectLst/>
                <a:latin typeface="Arial" panose="020B0604020202020204" pitchFamily="34" charset="0"/>
              </a:rPr>
              <a:t>Elección de modelo</a:t>
            </a:r>
          </a:p>
        </p:txBody>
      </p:sp>
      <p:sp>
        <p:nvSpPr>
          <p:cNvPr id="10" name="CuadroTexto 9">
            <a:extLst>
              <a:ext uri="{FF2B5EF4-FFF2-40B4-BE49-F238E27FC236}">
                <a16:creationId xmlns:a16="http://schemas.microsoft.com/office/drawing/2014/main" id="{10BD087D-70AE-D98D-5244-8922D7CD73BB}"/>
              </a:ext>
            </a:extLst>
          </p:cNvPr>
          <p:cNvSpPr txBox="1"/>
          <p:nvPr/>
        </p:nvSpPr>
        <p:spPr>
          <a:xfrm>
            <a:off x="6368142" y="957708"/>
            <a:ext cx="5045915" cy="646331"/>
          </a:xfrm>
          <a:prstGeom prst="rect">
            <a:avLst/>
          </a:prstGeom>
          <a:noFill/>
        </p:spPr>
        <p:txBody>
          <a:bodyPr wrap="square">
            <a:spAutoFit/>
          </a:bodyPr>
          <a:lstStyle/>
          <a:p>
            <a:r>
              <a:rPr lang="es-AR" sz="3600" b="1" dirty="0">
                <a:latin typeface="Arial" panose="020B0604020202020204" pitchFamily="34" charset="0"/>
                <a:cs typeface="Arial" panose="020B0604020202020204" pitchFamily="34" charset="0"/>
              </a:rPr>
              <a:t>Cálculo de métricas</a:t>
            </a:r>
          </a:p>
        </p:txBody>
      </p:sp>
      <p:sp>
        <p:nvSpPr>
          <p:cNvPr id="12" name="CuadroTexto 11">
            <a:extLst>
              <a:ext uri="{FF2B5EF4-FFF2-40B4-BE49-F238E27FC236}">
                <a16:creationId xmlns:a16="http://schemas.microsoft.com/office/drawing/2014/main" id="{3A842E46-7E6C-7564-87CF-72F546072CD6}"/>
              </a:ext>
            </a:extLst>
          </p:cNvPr>
          <p:cNvSpPr txBox="1"/>
          <p:nvPr/>
        </p:nvSpPr>
        <p:spPr>
          <a:xfrm>
            <a:off x="6368142" y="1810868"/>
            <a:ext cx="6123214" cy="1200329"/>
          </a:xfrm>
          <a:prstGeom prst="rect">
            <a:avLst/>
          </a:prstGeom>
          <a:noFill/>
        </p:spPr>
        <p:txBody>
          <a:bodyPr wrap="square">
            <a:spAutoFit/>
          </a:bodyPr>
          <a:lstStyle/>
          <a:p>
            <a:r>
              <a:rPr lang="es-MX" dirty="0">
                <a:latin typeface="Arial" panose="020B0604020202020204" pitchFamily="34" charset="0"/>
                <a:cs typeface="Arial" panose="020B0604020202020204" pitchFamily="34" charset="0"/>
              </a:rPr>
              <a:t>Se calcularon las métricas </a:t>
            </a:r>
            <a:r>
              <a:rPr lang="es-MX" b="1" dirty="0">
                <a:latin typeface="Arial" panose="020B0604020202020204" pitchFamily="34" charset="0"/>
                <a:cs typeface="Arial" panose="020B0604020202020204" pitchFamily="34" charset="0"/>
              </a:rPr>
              <a:t>MSE, RMSE, MAE y R² </a:t>
            </a:r>
            <a:r>
              <a:rPr lang="es-MX" dirty="0">
                <a:latin typeface="Arial" panose="020B0604020202020204" pitchFamily="34" charset="0"/>
                <a:cs typeface="Arial" panose="020B0604020202020204" pitchFamily="34" charset="0"/>
              </a:rPr>
              <a:t>para evaluar el rendimiento de los modelos. Estas métricas permiten cuantificar el error de predicción y la capacidad explicativa del modelo.</a:t>
            </a:r>
            <a:endParaRPr lang="es-AR" dirty="0">
              <a:latin typeface="Arial" panose="020B0604020202020204" pitchFamily="34" charset="0"/>
              <a:cs typeface="Arial" panose="020B0604020202020204" pitchFamily="34" charset="0"/>
            </a:endParaRPr>
          </a:p>
        </p:txBody>
      </p:sp>
      <p:sp>
        <p:nvSpPr>
          <p:cNvPr id="17" name="CuadroTexto 16">
            <a:extLst>
              <a:ext uri="{FF2B5EF4-FFF2-40B4-BE49-F238E27FC236}">
                <a16:creationId xmlns:a16="http://schemas.microsoft.com/office/drawing/2014/main" id="{2549056B-6476-3D6C-5397-4A575C0BFB27}"/>
              </a:ext>
            </a:extLst>
          </p:cNvPr>
          <p:cNvSpPr txBox="1"/>
          <p:nvPr/>
        </p:nvSpPr>
        <p:spPr>
          <a:xfrm>
            <a:off x="7816008" y="4110961"/>
            <a:ext cx="2934716" cy="1293971"/>
          </a:xfrm>
          <a:prstGeom prst="round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r>
              <a:rPr lang="es-AR" sz="1400" b="1" i="0" dirty="0" err="1">
                <a:solidFill>
                  <a:srgbClr val="1F1F1F"/>
                </a:solidFill>
                <a:effectLst/>
                <a:latin typeface="Arial" panose="020B0604020202020204" pitchFamily="34" charset="0"/>
                <a:cs typeface="Arial" panose="020B0604020202020204" pitchFamily="34" charset="0"/>
              </a:rPr>
              <a:t>Random</a:t>
            </a:r>
            <a:r>
              <a:rPr lang="es-AR" sz="1400" b="1" i="0" dirty="0">
                <a:solidFill>
                  <a:srgbClr val="1F1F1F"/>
                </a:solidFill>
                <a:effectLst/>
                <a:latin typeface="Arial" panose="020B0604020202020204" pitchFamily="34" charset="0"/>
                <a:cs typeface="Arial" panose="020B0604020202020204" pitchFamily="34" charset="0"/>
              </a:rPr>
              <a:t> Forest - Resultados: </a:t>
            </a:r>
            <a:br>
              <a:rPr lang="es-AR" sz="1400" b="1" i="0" dirty="0">
                <a:solidFill>
                  <a:srgbClr val="1F1F1F"/>
                </a:solidFill>
                <a:effectLst/>
                <a:latin typeface="Arial" panose="020B0604020202020204" pitchFamily="34" charset="0"/>
                <a:cs typeface="Arial" panose="020B0604020202020204" pitchFamily="34" charset="0"/>
              </a:rPr>
            </a:br>
            <a:r>
              <a:rPr lang="es-AR" sz="1400" b="1" i="0" dirty="0">
                <a:solidFill>
                  <a:srgbClr val="1F1F1F"/>
                </a:solidFill>
                <a:effectLst/>
                <a:latin typeface="Arial" panose="020B0604020202020204" pitchFamily="34" charset="0"/>
                <a:cs typeface="Arial" panose="020B0604020202020204" pitchFamily="34" charset="0"/>
              </a:rPr>
              <a:t>MSE: 1847598155.44 </a:t>
            </a:r>
            <a:br>
              <a:rPr lang="es-AR" sz="1400" b="1" i="0" dirty="0">
                <a:solidFill>
                  <a:srgbClr val="1F1F1F"/>
                </a:solidFill>
                <a:effectLst/>
                <a:latin typeface="Arial" panose="020B0604020202020204" pitchFamily="34" charset="0"/>
                <a:cs typeface="Arial" panose="020B0604020202020204" pitchFamily="34" charset="0"/>
              </a:rPr>
            </a:br>
            <a:r>
              <a:rPr lang="es-AR" sz="1400" b="1" i="0" dirty="0">
                <a:solidFill>
                  <a:srgbClr val="1F1F1F"/>
                </a:solidFill>
                <a:effectLst/>
                <a:latin typeface="Arial" panose="020B0604020202020204" pitchFamily="34" charset="0"/>
                <a:cs typeface="Arial" panose="020B0604020202020204" pitchFamily="34" charset="0"/>
              </a:rPr>
              <a:t>RMSE: 42983.70 </a:t>
            </a:r>
            <a:br>
              <a:rPr lang="es-AR" sz="1400" b="1" i="0" dirty="0">
                <a:solidFill>
                  <a:srgbClr val="1F1F1F"/>
                </a:solidFill>
                <a:effectLst/>
                <a:latin typeface="Arial" panose="020B0604020202020204" pitchFamily="34" charset="0"/>
                <a:cs typeface="Arial" panose="020B0604020202020204" pitchFamily="34" charset="0"/>
              </a:rPr>
            </a:br>
            <a:r>
              <a:rPr lang="es-AR" sz="1400" b="1" i="0" dirty="0">
                <a:solidFill>
                  <a:srgbClr val="1F1F1F"/>
                </a:solidFill>
                <a:effectLst/>
                <a:latin typeface="Arial" panose="020B0604020202020204" pitchFamily="34" charset="0"/>
                <a:cs typeface="Arial" panose="020B0604020202020204" pitchFamily="34" charset="0"/>
              </a:rPr>
              <a:t>MAE: 10188.87 </a:t>
            </a:r>
            <a:br>
              <a:rPr lang="es-AR" sz="1400" b="1" i="0" dirty="0">
                <a:solidFill>
                  <a:srgbClr val="1F1F1F"/>
                </a:solidFill>
                <a:effectLst/>
                <a:latin typeface="Arial" panose="020B0604020202020204" pitchFamily="34" charset="0"/>
                <a:cs typeface="Arial" panose="020B0604020202020204" pitchFamily="34" charset="0"/>
              </a:rPr>
            </a:br>
            <a:r>
              <a:rPr lang="es-AR" sz="1400" b="1" i="0" dirty="0">
                <a:solidFill>
                  <a:srgbClr val="1F1F1F"/>
                </a:solidFill>
                <a:effectLst/>
                <a:latin typeface="Arial" panose="020B0604020202020204" pitchFamily="34" charset="0"/>
                <a:cs typeface="Arial" panose="020B0604020202020204" pitchFamily="34" charset="0"/>
              </a:rPr>
              <a:t>R² Score: 0.9761</a:t>
            </a:r>
            <a:endParaRPr lang="es-AR" sz="1400" dirty="0"/>
          </a:p>
        </p:txBody>
      </p:sp>
      <p:sp>
        <p:nvSpPr>
          <p:cNvPr id="18" name="Título 1">
            <a:extLst>
              <a:ext uri="{FF2B5EF4-FFF2-40B4-BE49-F238E27FC236}">
                <a16:creationId xmlns:a16="http://schemas.microsoft.com/office/drawing/2014/main" id="{B6225A60-D62B-E2EC-7DC9-F5CB3DF1C2D6}"/>
              </a:ext>
            </a:extLst>
          </p:cNvPr>
          <p:cNvSpPr txBox="1">
            <a:spLocks/>
          </p:cNvSpPr>
          <p:nvPr/>
        </p:nvSpPr>
        <p:spPr>
          <a:xfrm>
            <a:off x="4599287" y="4107205"/>
            <a:ext cx="3037738" cy="1293971"/>
          </a:xfrm>
          <a:prstGeom prst="roundRect">
            <a:avLst/>
          </a:prstGeom>
        </p:spPr>
        <p:style>
          <a:lnRef idx="1">
            <a:schemeClr val="accent2"/>
          </a:lnRef>
          <a:fillRef idx="3">
            <a:schemeClr val="accent2"/>
          </a:fillRef>
          <a:effectRef idx="2">
            <a:schemeClr val="accent2"/>
          </a:effectRef>
          <a:fontRef idx="minor">
            <a:schemeClr val="lt1"/>
          </a:fontRef>
        </p:style>
        <p:txBody>
          <a:bodyPr vert="horz" lIns="91440" tIns="45720" rIns="91440" bIns="45720" rtlCol="0" anchor="b">
            <a:normAutofit/>
          </a:bodyPr>
          <a:lst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a:lstStyle>
          <a:p>
            <a:pPr algn="l"/>
            <a:r>
              <a:rPr lang="es-AR" sz="1400" b="1" cap="none" dirty="0">
                <a:solidFill>
                  <a:srgbClr val="1F1F1F"/>
                </a:solidFill>
                <a:latin typeface="Arial" panose="020B0604020202020204" pitchFamily="34" charset="0"/>
                <a:cs typeface="Arial" panose="020B0604020202020204" pitchFamily="34" charset="0"/>
              </a:rPr>
              <a:t>Regresión lineal - resultados</a:t>
            </a:r>
            <a:r>
              <a:rPr lang="es-AR" sz="1400" b="1" dirty="0">
                <a:solidFill>
                  <a:srgbClr val="1F1F1F"/>
                </a:solidFill>
                <a:latin typeface="Arial" panose="020B0604020202020204" pitchFamily="34" charset="0"/>
                <a:cs typeface="Arial" panose="020B0604020202020204" pitchFamily="34" charset="0"/>
              </a:rPr>
              <a:t>: </a:t>
            </a:r>
            <a:br>
              <a:rPr lang="es-AR" sz="1400" b="1" dirty="0">
                <a:solidFill>
                  <a:srgbClr val="1F1F1F"/>
                </a:solidFill>
                <a:latin typeface="Arial" panose="020B0604020202020204" pitchFamily="34" charset="0"/>
                <a:cs typeface="Arial" panose="020B0604020202020204" pitchFamily="34" charset="0"/>
              </a:rPr>
            </a:br>
            <a:r>
              <a:rPr lang="es-AR" sz="1400" b="1" dirty="0">
                <a:solidFill>
                  <a:srgbClr val="1F1F1F"/>
                </a:solidFill>
                <a:latin typeface="Arial" panose="020B0604020202020204" pitchFamily="34" charset="0"/>
                <a:cs typeface="Arial" panose="020B0604020202020204" pitchFamily="34" charset="0"/>
              </a:rPr>
              <a:t>MSE: 5247396723.32 </a:t>
            </a:r>
            <a:br>
              <a:rPr lang="es-AR" sz="1400" b="1" dirty="0">
                <a:solidFill>
                  <a:srgbClr val="1F1F1F"/>
                </a:solidFill>
                <a:latin typeface="Arial" panose="020B0604020202020204" pitchFamily="34" charset="0"/>
                <a:cs typeface="Arial" panose="020B0604020202020204" pitchFamily="34" charset="0"/>
              </a:rPr>
            </a:br>
            <a:r>
              <a:rPr lang="es-AR" sz="1400" b="1" dirty="0">
                <a:solidFill>
                  <a:srgbClr val="1F1F1F"/>
                </a:solidFill>
                <a:latin typeface="Arial" panose="020B0604020202020204" pitchFamily="34" charset="0"/>
                <a:cs typeface="Arial" panose="020B0604020202020204" pitchFamily="34" charset="0"/>
              </a:rPr>
              <a:t>RMSE: 72438.92 </a:t>
            </a:r>
            <a:br>
              <a:rPr lang="es-AR" sz="1400" b="1" dirty="0">
                <a:solidFill>
                  <a:srgbClr val="1F1F1F"/>
                </a:solidFill>
                <a:latin typeface="Arial" panose="020B0604020202020204" pitchFamily="34" charset="0"/>
                <a:cs typeface="Arial" panose="020B0604020202020204" pitchFamily="34" charset="0"/>
              </a:rPr>
            </a:br>
            <a:r>
              <a:rPr lang="es-AR" sz="1400" b="1" dirty="0">
                <a:solidFill>
                  <a:srgbClr val="1F1F1F"/>
                </a:solidFill>
                <a:latin typeface="Arial" panose="020B0604020202020204" pitchFamily="34" charset="0"/>
                <a:cs typeface="Arial" panose="020B0604020202020204" pitchFamily="34" charset="0"/>
              </a:rPr>
              <a:t>MAE: 37442.67 </a:t>
            </a:r>
            <a:br>
              <a:rPr lang="es-AR" sz="1400" b="1" dirty="0">
                <a:solidFill>
                  <a:srgbClr val="1F1F1F"/>
                </a:solidFill>
                <a:latin typeface="Arial" panose="020B0604020202020204" pitchFamily="34" charset="0"/>
                <a:cs typeface="Arial" panose="020B0604020202020204" pitchFamily="34" charset="0"/>
              </a:rPr>
            </a:br>
            <a:r>
              <a:rPr lang="es-AR" sz="1400" b="1" dirty="0">
                <a:solidFill>
                  <a:srgbClr val="1F1F1F"/>
                </a:solidFill>
                <a:latin typeface="Arial" panose="020B0604020202020204" pitchFamily="34" charset="0"/>
                <a:cs typeface="Arial" panose="020B0604020202020204" pitchFamily="34" charset="0"/>
              </a:rPr>
              <a:t>R² Score: 0.9322 </a:t>
            </a:r>
            <a:endParaRPr lang="en-US" sz="1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245176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6151" name="Picture 2">
            <a:extLst>
              <a:ext uri="{FF2B5EF4-FFF2-40B4-BE49-F238E27FC236}">
                <a16:creationId xmlns:a16="http://schemas.microsoft.com/office/drawing/2014/main" id="{ED331677-26DE-4EC1-9413-2FBC100AD51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6153" name="Picture 6152">
            <a:extLst>
              <a:ext uri="{FF2B5EF4-FFF2-40B4-BE49-F238E27FC236}">
                <a16:creationId xmlns:a16="http://schemas.microsoft.com/office/drawing/2014/main" id="{69D593A5-D0AD-443F-AA6A-E7453C4213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6155" name="Rectangle 6154">
            <a:extLst>
              <a:ext uri="{FF2B5EF4-FFF2-40B4-BE49-F238E27FC236}">
                <a16:creationId xmlns:a16="http://schemas.microsoft.com/office/drawing/2014/main" id="{1B31CAF6-2C7B-4134-BA7D-DE521DC7DD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57" name="Picture 2">
            <a:extLst>
              <a:ext uri="{FF2B5EF4-FFF2-40B4-BE49-F238E27FC236}">
                <a16:creationId xmlns:a16="http://schemas.microsoft.com/office/drawing/2014/main" id="{DE3FD386-A0A6-4EBA-BD80-B11EBC9EB2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7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6159" name="Rounded Rectangle 13">
            <a:extLst>
              <a:ext uri="{FF2B5EF4-FFF2-40B4-BE49-F238E27FC236}">
                <a16:creationId xmlns:a16="http://schemas.microsoft.com/office/drawing/2014/main" id="{B427C2C9-2B0B-40AD-98E3-3D39320A48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3774" y="550655"/>
            <a:ext cx="10364452" cy="3690466"/>
          </a:xfrm>
          <a:prstGeom prst="roundRect">
            <a:avLst>
              <a:gd name="adj" fmla="val 4838"/>
            </a:avLst>
          </a:prstGeom>
          <a:solidFill>
            <a:srgbClr val="FFFFFF"/>
          </a:solid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44E7C118-608B-550E-3578-7CD19B65FE3D}"/>
              </a:ext>
            </a:extLst>
          </p:cNvPr>
          <p:cNvPicPr>
            <a:picLocks noChangeAspect="1"/>
          </p:cNvPicPr>
          <p:nvPr/>
        </p:nvPicPr>
        <p:blipFill>
          <a:blip r:embed="rId4"/>
          <a:stretch>
            <a:fillRect/>
          </a:stretch>
        </p:blipFill>
        <p:spPr>
          <a:xfrm>
            <a:off x="1080082" y="1100075"/>
            <a:ext cx="3229440" cy="2591625"/>
          </a:xfrm>
          <a:prstGeom prst="roundRect">
            <a:avLst>
              <a:gd name="adj" fmla="val 0"/>
            </a:avLst>
          </a:prstGeom>
          <a:ln w="82550" cap="sq">
            <a:noFill/>
            <a:miter lim="800000"/>
          </a:ln>
          <a:effectLst/>
        </p:spPr>
      </p:pic>
      <p:pic>
        <p:nvPicPr>
          <p:cNvPr id="6146" name="Picture 2">
            <a:extLst>
              <a:ext uri="{FF2B5EF4-FFF2-40B4-BE49-F238E27FC236}">
                <a16:creationId xmlns:a16="http://schemas.microsoft.com/office/drawing/2014/main" id="{6605FA78-52EC-9C79-C1E1-7384830924E4}"/>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4479149" y="1095759"/>
            <a:ext cx="3240195" cy="2600256"/>
          </a:xfrm>
          <a:prstGeom prst="roundRect">
            <a:avLst>
              <a:gd name="adj" fmla="val 0"/>
            </a:avLst>
          </a:prstGeom>
          <a:noFill/>
          <a:ln w="82550" cap="sq">
            <a:noFill/>
            <a:miter lim="800000"/>
          </a:ln>
          <a:effectLst/>
          <a:extLst>
            <a:ext uri="{909E8E84-426E-40DD-AFC4-6F175D3DCCD1}">
              <a14:hiddenFill xmlns:a14="http://schemas.microsoft.com/office/drawing/2010/main">
                <a:solidFill>
                  <a:srgbClr val="FFFFFF"/>
                </a:solidFill>
              </a14:hiddenFill>
            </a:ext>
          </a:extLst>
        </p:spPr>
      </p:pic>
      <p:pic>
        <p:nvPicPr>
          <p:cNvPr id="4" name="Imagen 3">
            <a:extLst>
              <a:ext uri="{FF2B5EF4-FFF2-40B4-BE49-F238E27FC236}">
                <a16:creationId xmlns:a16="http://schemas.microsoft.com/office/drawing/2014/main" id="{BE56A46B-FD97-CD9E-D8F9-FEA287D451E1}"/>
              </a:ext>
            </a:extLst>
          </p:cNvPr>
          <p:cNvPicPr>
            <a:picLocks noChangeAspect="1"/>
          </p:cNvPicPr>
          <p:nvPr/>
        </p:nvPicPr>
        <p:blipFill>
          <a:blip r:embed="rId6"/>
          <a:stretch>
            <a:fillRect/>
          </a:stretch>
        </p:blipFill>
        <p:spPr>
          <a:xfrm>
            <a:off x="7874306" y="1391427"/>
            <a:ext cx="3240195" cy="2008921"/>
          </a:xfrm>
          <a:prstGeom prst="roundRect">
            <a:avLst>
              <a:gd name="adj" fmla="val 0"/>
            </a:avLst>
          </a:prstGeom>
          <a:ln w="82550" cap="sq">
            <a:noFill/>
            <a:miter lim="800000"/>
          </a:ln>
          <a:effectLst/>
        </p:spPr>
      </p:pic>
      <p:pic>
        <p:nvPicPr>
          <p:cNvPr id="6161" name="Picture 6160">
            <a:extLst>
              <a:ext uri="{FF2B5EF4-FFF2-40B4-BE49-F238E27FC236}">
                <a16:creationId xmlns:a16="http://schemas.microsoft.com/office/drawing/2014/main" id="{B7C65F7D-05C8-4B14-A0AC-80F0680D89A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b="55478"/>
          <a:stretch/>
        </p:blipFill>
        <p:spPr>
          <a:xfrm>
            <a:off x="-2607" y="0"/>
            <a:ext cx="12192000" cy="3053351"/>
          </a:xfrm>
          <a:prstGeom prst="rect">
            <a:avLst/>
          </a:prstGeom>
        </p:spPr>
      </p:pic>
      <p:pic>
        <p:nvPicPr>
          <p:cNvPr id="6163" name="Picture 6162">
            <a:extLst>
              <a:ext uri="{FF2B5EF4-FFF2-40B4-BE49-F238E27FC236}">
                <a16:creationId xmlns:a16="http://schemas.microsoft.com/office/drawing/2014/main" id="{6F34CA10-AA95-4A32-B085-3AAB0E9E0ED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69764" t="46543"/>
          <a:stretch/>
        </p:blipFill>
        <p:spPr>
          <a:xfrm>
            <a:off x="8500434" y="3191932"/>
            <a:ext cx="3686351" cy="3666067"/>
          </a:xfrm>
          <a:prstGeom prst="rect">
            <a:avLst/>
          </a:prstGeom>
        </p:spPr>
      </p:pic>
      <p:sp>
        <p:nvSpPr>
          <p:cNvPr id="12" name="CuadroTexto 11">
            <a:extLst>
              <a:ext uri="{FF2B5EF4-FFF2-40B4-BE49-F238E27FC236}">
                <a16:creationId xmlns:a16="http://schemas.microsoft.com/office/drawing/2014/main" id="{D65046E1-D454-DC4B-C1EE-6F96811C73A6}"/>
              </a:ext>
            </a:extLst>
          </p:cNvPr>
          <p:cNvSpPr txBox="1"/>
          <p:nvPr/>
        </p:nvSpPr>
        <p:spPr>
          <a:xfrm>
            <a:off x="1926773" y="4579764"/>
            <a:ext cx="8534399" cy="1634490"/>
          </a:xfrm>
          <a:prstGeom prst="round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r>
              <a:rPr kumimoji="0" lang="es-AR" altLang="es-AR" sz="1800" b="0" i="0" u="none" strike="noStrike" cap="none" normalizeH="0" baseline="0" dirty="0">
                <a:ln>
                  <a:noFill/>
                </a:ln>
                <a:solidFill>
                  <a:schemeClr val="tx1"/>
                </a:solidFill>
                <a:effectLst/>
                <a:latin typeface="Arial" panose="020B0604020202020204" pitchFamily="34" charset="0"/>
              </a:rPr>
              <a:t>Las variables agronómicas más importantes para la predicción de producción fueron el rendimiento, la superficie sembrada y cosechada.</a:t>
            </a:r>
            <a:br>
              <a:rPr kumimoji="0" lang="es-AR" altLang="es-AR" sz="1800" b="0" i="0" u="none" strike="noStrike" cap="none" normalizeH="0" baseline="0" dirty="0">
                <a:ln>
                  <a:noFill/>
                </a:ln>
                <a:solidFill>
                  <a:schemeClr val="tx1"/>
                </a:solidFill>
                <a:effectLst/>
                <a:latin typeface="Arial" panose="020B0604020202020204" pitchFamily="34" charset="0"/>
              </a:rPr>
            </a:br>
            <a:r>
              <a:rPr kumimoji="0" lang="es-AR" altLang="es-AR" sz="1800" b="0" i="0" u="none" strike="noStrike" cap="none" normalizeH="0" baseline="0" dirty="0">
                <a:ln>
                  <a:noFill/>
                </a:ln>
                <a:solidFill>
                  <a:schemeClr val="tx1"/>
                </a:solidFill>
                <a:effectLst/>
                <a:latin typeface="Arial" panose="020B0604020202020204" pitchFamily="34" charset="0"/>
              </a:rPr>
              <a:t>• </a:t>
            </a:r>
            <a:r>
              <a:rPr kumimoji="0" lang="es-AR" altLang="es-AR" sz="1800" b="0" i="0" u="none" strike="noStrike" cap="none" normalizeH="0" baseline="0" dirty="0" err="1">
                <a:ln>
                  <a:noFill/>
                </a:ln>
                <a:solidFill>
                  <a:schemeClr val="tx1"/>
                </a:solidFill>
                <a:effectLst/>
                <a:latin typeface="Arial" panose="020B0604020202020204" pitchFamily="34" charset="0"/>
              </a:rPr>
              <a:t>Random</a:t>
            </a:r>
            <a:r>
              <a:rPr kumimoji="0" lang="es-AR" altLang="es-AR" sz="1800" b="0" i="0" u="none" strike="noStrike" cap="none" normalizeH="0" baseline="0" dirty="0">
                <a:ln>
                  <a:noFill/>
                </a:ln>
                <a:solidFill>
                  <a:schemeClr val="tx1"/>
                </a:solidFill>
                <a:effectLst/>
                <a:latin typeface="Arial" panose="020B0604020202020204" pitchFamily="34" charset="0"/>
              </a:rPr>
              <a:t> Forest se destacó como el modelo más preciso.</a:t>
            </a:r>
            <a:br>
              <a:rPr kumimoji="0" lang="es-AR" altLang="es-AR" sz="1800" b="0" i="0" u="none" strike="noStrike" cap="none" normalizeH="0" baseline="0" dirty="0">
                <a:ln>
                  <a:noFill/>
                </a:ln>
                <a:solidFill>
                  <a:schemeClr val="tx1"/>
                </a:solidFill>
                <a:effectLst/>
                <a:latin typeface="Arial" panose="020B0604020202020204" pitchFamily="34" charset="0"/>
              </a:rPr>
            </a:br>
            <a:r>
              <a:rPr kumimoji="0" lang="es-AR" altLang="es-AR" sz="1800" b="0" i="0" u="none" strike="noStrike" cap="none" normalizeH="0" baseline="0" dirty="0">
                <a:ln>
                  <a:noFill/>
                </a:ln>
                <a:solidFill>
                  <a:schemeClr val="tx1"/>
                </a:solidFill>
                <a:effectLst/>
                <a:latin typeface="Arial" panose="020B0604020202020204" pitchFamily="34" charset="0"/>
              </a:rPr>
              <a:t>• El análisis puede usarse para estimaciones regionales futuras y para apoyar la toma de decisiones en campañas agrícolas.</a:t>
            </a:r>
            <a:endParaRPr lang="es-AR" dirty="0"/>
          </a:p>
        </p:txBody>
      </p:sp>
    </p:spTree>
    <p:extLst>
      <p:ext uri="{BB962C8B-B14F-4D97-AF65-F5344CB8AC3E}">
        <p14:creationId xmlns:p14="http://schemas.microsoft.com/office/powerpoint/2010/main" val="4216670101"/>
      </p:ext>
    </p:extLst>
  </p:cSld>
  <p:clrMapOvr>
    <a:masterClrMapping/>
  </p:clrMapOvr>
</p:sld>
</file>

<file path=ppt/theme/theme1.xml><?xml version="1.0" encoding="utf-8"?>
<a:theme xmlns:a="http://schemas.openxmlformats.org/drawingml/2006/main" name="Gota">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TM04033925[[fn=Gota]]</Template>
  <TotalTime>321</TotalTime>
  <Words>611</Words>
  <Application>Microsoft Office PowerPoint</Application>
  <PresentationFormat>Panorámica</PresentationFormat>
  <Paragraphs>101</Paragraphs>
  <Slides>7</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7</vt:i4>
      </vt:variant>
    </vt:vector>
  </HeadingPairs>
  <TitlesOfParts>
    <vt:vector size="11" baseType="lpstr">
      <vt:lpstr>Arial</vt:lpstr>
      <vt:lpstr>Roboto</vt:lpstr>
      <vt:lpstr>Tw Cen MT</vt:lpstr>
      <vt:lpstr>Gota</vt:lpstr>
      <vt:lpstr>Producción de soja en Argentina</vt:lpstr>
      <vt:lpstr>Presentación de PowerPoint</vt:lpstr>
      <vt:lpstr>OBJETIVOS</vt:lpstr>
      <vt:lpstr> Selección de variables (Feature Selection)</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Nadia Yerkovich</dc:creator>
  <cp:lastModifiedBy>Nadia Yerkovich</cp:lastModifiedBy>
  <cp:revision>2</cp:revision>
  <dcterms:created xsi:type="dcterms:W3CDTF">2025-05-28T18:52:35Z</dcterms:created>
  <dcterms:modified xsi:type="dcterms:W3CDTF">2025-05-29T00:14:17Z</dcterms:modified>
</cp:coreProperties>
</file>